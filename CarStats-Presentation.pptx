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e-IL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222E"/>
                </a:solidFill>
                <a:latin typeface="Arial"/>
              </a:defRPr>
            </a:pPr>
            <a:r>
              <a:rPr lang="he-IL" sz="1400" b="0" i="0" u="none" strike="noStrike">
                <a:solidFill>
                  <a:srgbClr val="16222E"/>
                </a:solidFill>
                <a:latin typeface="Arial"/>
              </a:rPr>
              <a:t>מספר בדיקות לכל חבילה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בדיקות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6222E"/>
                    </a:solidFill>
                    <a:latin typeface="Arial"/>
                  </a:defRPr>
                </a:pPr>
                <a:endParaRPr lang="he-I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routeErrorMessage</c:v>
                </c:pt>
                <c:pt idx="1">
                  <c:v>vindecode</c:v>
                </c:pt>
                <c:pt idx="2">
                  <c:v>password</c:v>
                </c:pt>
                <c:pt idx="3">
                  <c:v>fueleconomy</c:v>
                </c:pt>
                <c:pt idx="4">
                  <c:v>severity</c:v>
                </c:pt>
                <c:pt idx="5">
                  <c:v>fuel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</c:v>
                </c:pt>
                <c:pt idx="1">
                  <c:v>7</c:v>
                </c:pt>
                <c:pt idx="2">
                  <c:v>10</c:v>
                </c:pt>
                <c:pt idx="3">
                  <c:v>11</c:v>
                </c:pt>
                <c:pt idx="4">
                  <c:v>12</c:v>
                </c:pt>
                <c:pt idx="5">
                  <c:v>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486-4EAD-9854-54949AC4B6A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566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3E9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A8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279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שקופית פתיחה: מציגים את שם הפרויקט ואת השרשרת המלאה מהרכב ועד הנהג.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הבעיה: הקוד קיים בכל רכב, אבל הוא חסר משמעות לנהג.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ארבעת השלבים הם הסיפור המרכזי של המערכת.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החץ מתאר את זרימת המידע: מהרכב, דרך המתאם והאפליקציה, אל השרת ובסיס הנתונים.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34 הקודים הם המילון הידני; כל השאר נופל ל-AI.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צילומי מסך אמיתיים מהאפליקציה הרצה על אמולטור אנדרואיד.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שתי העמודות: מה שקורה אחרי הנסיעה, ומה שקורה לפניה.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צילומי מסך אמיתיים מהאפליקציה הרצה על אמולטור אנדרואיד.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החלק של הגדר הווירטואלית הוא ההחלטה ההנדסית המעניינת כאן.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צילומי מסך אמיתיים מהאפליקציה הרצה על אמולטור אנדרואיד.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ארבע החלטות שמדגימות חשיבה הנדסית ולא רק כתיבת קוד.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פרטיות: הכתובת של המשתמש בכלל לא מגיעה לשרת.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הרצה: npm test בתיקיית האפליקציה. שש חבילות, 82 בדיקות.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החלוקה לפי שכבות, מהאפליקציה שהמשתמש רואה ועד הענן.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להציג את המגבלות ביושר — זה מחזק את הפרויקט ולא מחליש אותו.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סיכום במספרים, ואז פתיחה לשאלות.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2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05840" y="1005840"/>
            <a:ext cx="4846320" cy="4846320"/>
          </a:xfrm>
          <a:prstGeom prst="ellipse">
            <a:avLst/>
          </a:prstGeom>
          <a:solidFill>
            <a:srgbClr val="16222E"/>
          </a:solidFill>
          <a:ln w="177800">
            <a:solidFill>
              <a:srgbClr val="22323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457200" y="1554480"/>
            <a:ext cx="3749040" cy="3749040"/>
          </a:xfrm>
          <a:prstGeom prst="ellipse">
            <a:avLst/>
          </a:prstGeom>
          <a:solidFill>
            <a:srgbClr val="16222E"/>
          </a:solidFill>
          <a:ln w="76200">
            <a:solidFill>
              <a:srgbClr val="F5A62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2697480"/>
            <a:ext cx="1463040" cy="146304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69748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OBD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1691640"/>
            <a:ext cx="74066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CarStats</a:t>
            </a:r>
            <a:endParaRPr lang="en-US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2834640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20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אפליקציית אבחון רכב ‏OBD-II‏ לנהגים בישראל‏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520440"/>
            <a:ext cx="7406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ts val="2400"/>
              </a:lnSpc>
              <a:buNone/>
            </a:pPr>
            <a:r>
              <a:rPr lang="en-US" sz="1400" dirty="0">
                <a:solidFill>
                  <a:srgbClr val="C6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מהרשת של הרכב ועד משפט אחד שהנהג יכול לפעול לפיו:</a:t>
            </a:r>
            <a:endParaRPr lang="en-US" sz="1400" dirty="0"/>
          </a:p>
          <a:p>
            <a:pPr marL="0" indent="0" algn="r" rtl="1">
              <a:lnSpc>
                <a:spcPts val="2400"/>
              </a:lnSpc>
              <a:buNone/>
            </a:pPr>
            <a:r>
              <a:rPr lang="en-US" sz="1400" dirty="0">
                <a:solidFill>
                  <a:srgbClr val="C6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קוד תקלה ← הסבר בשפה פשוטה ← דירוג חומרה ← מחיר תיקון בשקלים ← המוסך הקרוב‏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4846320"/>
            <a:ext cx="7406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6B7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פרויקט גמר  ·  אפליקציה ניידת · שרת · בסיס נתונים · פאנל ניהול · קושחה‏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הבעיה‏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נהג שרואה קוד תקלה לא לומד ממנו כלום‏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635240" y="1600200"/>
            <a:ext cx="4005072" cy="3931920"/>
          </a:xfrm>
          <a:prstGeom prst="roundRect">
            <a:avLst>
              <a:gd name="adj" fmla="val 2791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635240" y="2286000"/>
            <a:ext cx="4005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P0420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635240" y="3474720"/>
            <a:ext cx="40050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lnSpc>
                <a:spcPts val="2200"/>
              </a:lnSpc>
              <a:buNone/>
            </a:pPr>
            <a:r>
              <a:rPr lang="en-US" sz="1400" dirty="0">
                <a:solidFill>
                  <a:srgbClr val="C6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כל מה שסורק רגיל</a:t>
            </a:r>
            <a:endParaRPr lang="en-US" sz="1400" dirty="0"/>
          </a:p>
          <a:p>
            <a:pPr marL="0" indent="0" algn="ctr" rtl="1">
              <a:lnSpc>
                <a:spcPts val="2200"/>
              </a:lnSpc>
              <a:buNone/>
            </a:pPr>
            <a:r>
              <a:rPr lang="en-US" sz="1400" dirty="0">
                <a:solidFill>
                  <a:srgbClr val="C6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מחזיר לנהג‏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537960" y="1938528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3796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173736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בעצם מקולקל ברכב‏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78892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37960" y="2990088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37960" y="2990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278892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האם בטוח להמשיך לנסוע‏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384048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37960" y="4041648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₪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384048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התיקון אמור לעלות‏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983480"/>
            <a:ext cx="6766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ts val="2200"/>
              </a:lnSpc>
              <a:buNone/>
            </a:pPr>
            <a:r>
              <a:rPr lang="en-US" sz="1300" dirty="0">
                <a:solidFill>
                  <a:srgbClr val="6B7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רכב שיוצר מ-‏2001‏ ואילך שומר תקלות כקוד בן חמישה תווים. סורקים מסחריים עולים מאות שקלים, ומחזירים בדיוק את אותם קודים גולמיים.‏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הפתרון‏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ארבעה צעדים מהמנוע אל הנהג‏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942832" y="1737360"/>
            <a:ext cx="2697480" cy="2880360"/>
          </a:xfrm>
          <a:prstGeom prst="roundRect">
            <a:avLst>
              <a:gd name="adj" fmla="val 4068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771632" y="1965960"/>
            <a:ext cx="566928" cy="5669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71632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0" y="2633472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קורא‏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144000" y="3127248"/>
            <a:ext cx="2295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1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מתאם ‏ESP32‏ שבנינו מתחבר ליציאת ה-‏OBD-II‏, קורא את רשת ה-‏CAN‏ ומשרת את הקודים כ-‏JSON‏ ברשת המקומית‏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44768" y="1737360"/>
            <a:ext cx="2697480" cy="2880360"/>
          </a:xfrm>
          <a:prstGeom prst="roundRect">
            <a:avLst>
              <a:gd name="adj" fmla="val 4068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73568" y="1965960"/>
            <a:ext cx="566928" cy="5669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73568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45936" y="2633472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מתרגם‏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45936" y="3127248"/>
            <a:ext cx="2295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1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קוד עובר מול מילון של ‏34‏ תקלות: הסבר בשפה פשוטה ודירוג חומרה. קוד שלא במילון מוסבר ע"י ‏Gemini‏ ומסומן כתוכן ‏AI‏‏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346704" y="1737360"/>
            <a:ext cx="2697480" cy="2880360"/>
          </a:xfrm>
          <a:prstGeom prst="roundRect">
            <a:avLst>
              <a:gd name="adj" fmla="val 4068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175504" y="1965960"/>
            <a:ext cx="566928" cy="5669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75504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547872" y="2633472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מתמחר‏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3547872" y="3127248"/>
            <a:ext cx="2295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1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לכל תקלה מוצמד טווח מחיר תיקון ריאלי בשקלים, כדי שהנהג יידע למה לצפות עוד לפני שהוא מגיע למוסך‏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1737360"/>
            <a:ext cx="2697480" cy="2880360"/>
          </a:xfrm>
          <a:prstGeom prst="roundRect">
            <a:avLst>
              <a:gd name="adj" fmla="val 4068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377440" y="1965960"/>
            <a:ext cx="566928" cy="5669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774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2633472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מפנה‏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3127248"/>
            <a:ext cx="2295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1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רשימת מוסכים חיה מ-‏Google Places‏, ממוינת לפי קרבה, עם דירוגים אמיתיים, חיוג בלחיצה וניווט‏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4937760"/>
            <a:ext cx="11091672" cy="914400"/>
          </a:xfrm>
          <a:prstGeom prst="roundRect">
            <a:avLst>
              <a:gd name="adj" fmla="val 12000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68680" y="4937760"/>
            <a:ext cx="10451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הטלפון לעולם לא מדבר ישירות עם הרכב: המתאם קורא, האפליקציה מציגה, והשרת מתרגם.‏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ארכיטקטורה‏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חמישה רכיבים, שרשרת אחת‏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537192" y="1920240"/>
            <a:ext cx="2103120" cy="2057400"/>
          </a:xfrm>
          <a:prstGeom prst="roundRect">
            <a:avLst>
              <a:gd name="adj" fmla="val 5333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74352" y="21214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מחשב הרכב‏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74352" y="2606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200" dirty="0">
                <a:solidFill>
                  <a:srgbClr val="C6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ECU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674352" y="33101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bus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 flipH="1">
            <a:off x="9386316" y="2944368"/>
            <a:ext cx="192024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287768" y="1920240"/>
            <a:ext cx="2103120" cy="2057400"/>
          </a:xfrm>
          <a:prstGeom prst="roundRect">
            <a:avLst>
              <a:gd name="adj" fmla="val 533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424928" y="21214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מתאם ‏ESP32‏‏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424928" y="2606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he-IL" sz="1200" dirty="0">
                <a:solidFill>
                  <a:srgbClr val="44566B"/>
                </a:solidFill>
                <a:latin typeface="Arial" pitchFamily="34" charset="0"/>
                <a:cs typeface="Arial" pitchFamily="34" charset="-120"/>
              </a:rPr>
              <a:t>צ'יפ מתוכנת לקריאת נתונים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7424928" y="33101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C++ / TWAI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38344" y="1920240"/>
            <a:ext cx="2103120" cy="2057400"/>
          </a:xfrm>
          <a:prstGeom prst="roundRect">
            <a:avLst>
              <a:gd name="adj" fmla="val 533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5175504" y="21214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אפליקציה ניידת‏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175504" y="2606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20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המסך של הנהג‏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175504" y="33101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Native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88920" y="1920240"/>
            <a:ext cx="2103120" cy="2057400"/>
          </a:xfrm>
          <a:prstGeom prst="roundRect">
            <a:avLst>
              <a:gd name="adj" fmla="val 533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2926080" y="21214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שרת ‏API‏‏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926080" y="2606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20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לוגיקה ותרגום‏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2926080" y="33101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ASP.NET Core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39496" y="1920240"/>
            <a:ext cx="2103120" cy="2057400"/>
          </a:xfrm>
          <a:prstGeom prst="roundRect">
            <a:avLst>
              <a:gd name="adj" fmla="val 533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76656" y="21214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בסיס נתונים‏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" y="2606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20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משתמשים והיסטוריה‏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76656" y="33101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Server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99632" y="4389120"/>
            <a:ext cx="5440680" cy="1463040"/>
          </a:xfrm>
          <a:prstGeom prst="roundRect">
            <a:avLst>
              <a:gd name="adj" fmla="val 75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6428232" y="455371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פאנל ניהול‏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428232" y="493776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‏React 19 + MUI‏, מנהל משתמשים, רכבים ומילון התקלות מול אותו ‏API‏‏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48640" y="4389120"/>
            <a:ext cx="5440680" cy="1463040"/>
          </a:xfrm>
          <a:prstGeom prst="roundRect">
            <a:avLst>
              <a:gd name="adj" fmla="val 75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777240" y="455371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שירותים חיצוניים‏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777240" y="493776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‏Google Maps, Brevo, NHTSA, EPA, NRCan, data.gov.il‏ ו-‏Gemini‏‏</a:t>
            </a:r>
            <a:endParaRPr lang="en-US" sz="1250" dirty="0"/>
          </a:p>
        </p:txBody>
      </p:sp>
      <p:sp>
        <p:nvSpPr>
          <p:cNvPr id="37" name="Shape 6">
            <a:extLst>
              <a:ext uri="{FF2B5EF4-FFF2-40B4-BE49-F238E27FC236}">
                <a16:creationId xmlns:a16="http://schemas.microsoft.com/office/drawing/2014/main" id="{BF83C9F5-C58B-2495-08CE-D36A80128DAD}"/>
              </a:ext>
            </a:extLst>
          </p:cNvPr>
          <p:cNvSpPr/>
          <p:nvPr/>
        </p:nvSpPr>
        <p:spPr>
          <a:xfrm flipH="1">
            <a:off x="7128595" y="2944368"/>
            <a:ext cx="192024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  <a:tailEnd type="triangle"/>
          </a:ln>
        </p:spPr>
      </p:sp>
      <p:sp>
        <p:nvSpPr>
          <p:cNvPr id="39" name="Shape 6">
            <a:extLst>
              <a:ext uri="{FF2B5EF4-FFF2-40B4-BE49-F238E27FC236}">
                <a16:creationId xmlns:a16="http://schemas.microsoft.com/office/drawing/2014/main" id="{53F1EFDF-3AF3-A7AC-B35F-D409152F7EB4}"/>
              </a:ext>
            </a:extLst>
          </p:cNvPr>
          <p:cNvSpPr/>
          <p:nvPr/>
        </p:nvSpPr>
        <p:spPr>
          <a:xfrm flipH="1">
            <a:off x="4892040" y="2942336"/>
            <a:ext cx="192024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  <a:tailEnd type="triangle"/>
          </a:ln>
        </p:spPr>
      </p:sp>
      <p:sp>
        <p:nvSpPr>
          <p:cNvPr id="41" name="Shape 6">
            <a:extLst>
              <a:ext uri="{FF2B5EF4-FFF2-40B4-BE49-F238E27FC236}">
                <a16:creationId xmlns:a16="http://schemas.microsoft.com/office/drawing/2014/main" id="{AA243FA8-B610-F841-0A33-DBFD56EF7E9F}"/>
              </a:ext>
            </a:extLst>
          </p:cNvPr>
          <p:cNvSpPr/>
          <p:nvPr/>
        </p:nvSpPr>
        <p:spPr>
          <a:xfrm flipH="1">
            <a:off x="2596896" y="2944368"/>
            <a:ext cx="192024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יכולות · אבחון‏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האפליקציה יודעת לעשות ברכב‏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199632" y="16916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54512" y="1947672"/>
            <a:ext cx="411480" cy="4114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54512" y="19476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28232" y="18562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נתוני מנוע חיים‏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28232" y="2258568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סל"ד, מהירות, טמפרטורת נוזל קירור, עומס מנוע ומפלס דלק, נדגמים פעם בשנייה מהמתאם‏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16916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303520" y="1947672"/>
            <a:ext cx="411480" cy="4114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03520" y="19476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18562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סריקת תקלות‏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2258568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קוראת כל קוד פעיל ומתרגמת אותו לחומרה, הסבר, מה לעשות וטווח מחיר בשקלים‏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99632" y="32918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954512" y="3547872"/>
            <a:ext cx="411480" cy="4114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54512" y="35478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28232" y="34564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גיבוי מבוסס ‏AI‏‏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28232" y="3858768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קודים ייחודיים ליצרן מגיעים לאלפים, ולכן מה שמחוץ למילון מוסבר ע"י ‏Gemini‏, נשמר במטמון ומסומן‏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32918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303520" y="3547872"/>
            <a:ext cx="411480" cy="4114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03520" y="35478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34564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היסטוריית תקלות‏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3858768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סריקה נרשמת, עם דדופליקציה לרשומה אחת לקוד ליום כדי שתקלה מתמשכת לא תיספר שוב ושוב‏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010144" y="4937760"/>
            <a:ext cx="3630168" cy="960120"/>
          </a:xfrm>
          <a:prstGeom prst="roundRect">
            <a:avLst>
              <a:gd name="adj" fmla="val 11429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497312" y="4937760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8238744" y="4937760"/>
            <a:ext cx="2212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קודים במילון המתורגם‏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4279392" y="4937760"/>
            <a:ext cx="3630168" cy="960120"/>
          </a:xfrm>
          <a:prstGeom prst="roundRect">
            <a:avLst>
              <a:gd name="adj" fmla="val 11429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66560" y="4937760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4507992" y="4937760"/>
            <a:ext cx="2212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רמות חומרה‏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548640" y="4937760"/>
            <a:ext cx="3630168" cy="960120"/>
          </a:xfrm>
          <a:prstGeom prst="roundRect">
            <a:avLst>
              <a:gd name="adj" fmla="val 11429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035808" y="4937760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₪</a:t>
            </a:r>
            <a:endParaRPr lang="en-US" sz="30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4937760"/>
            <a:ext cx="2212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טווח מחיר לכל תקלה‏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מהאפליקציה‏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כך נראית סריקה אמיתית‏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724284" y="1522476"/>
            <a:ext cx="1723424" cy="3529584"/>
          </a:xfrm>
          <a:prstGeom prst="roundRect">
            <a:avLst>
              <a:gd name="adj" fmla="val 5306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  <a:effectLst>
            <a:outerShdw blurRad="127000" dist="38100" dir="5400000" algn="bl" rotWithShape="0">
              <a:srgbClr val="8A99A6">
                <a:alpha val="35000"/>
              </a:srgbClr>
            </a:outerShdw>
          </a:effectLst>
        </p:spPr>
      </p:sp>
      <p:pic>
        <p:nvPicPr>
          <p:cNvPr id="5" name="Image 0" descr="Z:\Users\12orb\AppData\Local\Temp\claude\Z--Users-12orb-Desktop-Rupin-AiProjectSpamDetection-EndOfYearCarProject\bc12164c-9673-4caf-a51e-0823e450bec0\scratchpad\shots_trimmed\03-l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4576" y="1572768"/>
            <a:ext cx="1622840" cy="3429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74416" y="5148072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נתונים חיים‏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7374416" y="5477256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1600"/>
              </a:lnSpc>
              <a:buNone/>
            </a:pPr>
            <a:r>
              <a:rPr lang="en-US" sz="1100" dirty="0">
                <a:solidFill>
                  <a:srgbClr val="6B7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סל"ד, מהירות, טמפרטורה ומפלס דלק, פעם בשנייה‏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232764" y="1522476"/>
            <a:ext cx="1723424" cy="3529584"/>
          </a:xfrm>
          <a:prstGeom prst="roundRect">
            <a:avLst>
              <a:gd name="adj" fmla="val 5306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  <a:effectLst>
            <a:outerShdw blurRad="127000" dist="38100" dir="5400000" algn="bl" rotWithShape="0">
              <a:srgbClr val="8A99A6">
                <a:alpha val="35000"/>
              </a:srgbClr>
            </a:outerShdw>
          </a:effectLst>
        </p:spPr>
      </p:sp>
      <p:pic>
        <p:nvPicPr>
          <p:cNvPr id="9" name="Image 1" descr="Z:\Users\12orb\AppData\Local\Temp\claude\Z--Users-12orb-Desktop-Rupin-AiProjectSpamDetection-EndOfYearCarProject\bc12164c-9673-4caf-a51e-0823e450bec0\scratchpad\shots_trimmed\06-scan-faul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3056" y="1572768"/>
            <a:ext cx="1622840" cy="3429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882896" y="5148072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תוצאות הסריקה‏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4882896" y="5477256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1600"/>
              </a:lnSpc>
              <a:buNone/>
            </a:pPr>
            <a:r>
              <a:rPr lang="en-US" sz="1100" dirty="0">
                <a:solidFill>
                  <a:srgbClr val="6B7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 תקלות, כולל קוד שלא במילון שיוסבר ע"י ‏AI‏‏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741245" y="1522476"/>
            <a:ext cx="1723424" cy="3529584"/>
          </a:xfrm>
          <a:prstGeom prst="roundRect">
            <a:avLst>
              <a:gd name="adj" fmla="val 5306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  <a:effectLst>
            <a:outerShdw blurRad="127000" dist="38100" dir="5400000" algn="bl" rotWithShape="0">
              <a:srgbClr val="8A99A6">
                <a:alpha val="35000"/>
              </a:srgbClr>
            </a:outerShdw>
          </a:effectLst>
        </p:spPr>
      </p:sp>
      <p:pic>
        <p:nvPicPr>
          <p:cNvPr id="13" name="Image 2" descr="Z:\Users\12orb\AppData\Local\Temp\claude\Z--Users-12orb-Desktop-Rupin-AiProjectSpamDetection-EndOfYearCarProject\bc12164c-9673-4caf-a51e-0823e450bec0\scratchpad\shots_trimmed\08-fault-det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1537" y="1572768"/>
            <a:ext cx="1622840" cy="34290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391376" y="5148072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פירוט התקלה‏</a:t>
            </a:r>
            <a:endParaRPr lang="en-US" sz="1450" dirty="0"/>
          </a:p>
        </p:txBody>
      </p:sp>
      <p:sp>
        <p:nvSpPr>
          <p:cNvPr id="15" name="Text 10"/>
          <p:cNvSpPr txBox="1"/>
          <p:nvPr/>
        </p:nvSpPr>
        <p:spPr>
          <a:xfrm>
            <a:off x="2391376" y="5477256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1600"/>
              </a:lnSpc>
              <a:buNone/>
            </a:pPr>
            <a:r>
              <a:rPr lang="en-US" sz="1100" dirty="0">
                <a:solidFill>
                  <a:srgbClr val="6B7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הסבר, מה לעשות, וטווח מחיר בשקלים‏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150" dirty="0">
                <a:solidFill>
                  <a:srgbClr val="6B7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צולם מהאפליקציה הרצה על אמולטור אנדרואיד, במצב הדגמה שמדמה את מתאם ה-‏ESP32.‏‏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יכולות · דלק‏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דלק, עלויות ותכנון נסיעה‏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199632" y="1645920"/>
            <a:ext cx="5440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צריכה ועלויות‏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199632" y="2148840"/>
            <a:ext cx="5440680" cy="1207008"/>
          </a:xfrm>
          <a:prstGeom prst="roundRect">
            <a:avLst>
              <a:gd name="adj" fmla="val 909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28232" y="228600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מעקב צריכה‏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28232" y="2624328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רישום תדלוקים ומדידת ליטר/‏100‏ ק"מ אמיתית, במקום נתון המעבדה של היצרן‏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99632" y="3447288"/>
            <a:ext cx="5440680" cy="1207008"/>
          </a:xfrm>
          <a:prstGeom prst="roundRect">
            <a:avLst>
              <a:gd name="adj" fmla="val 909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28232" y="3584448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עלויות שוטפות‏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28232" y="3922776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ל-‏100‏ ק"מ משוקללת לפי מרחק, הוצאה החודש והשנה, והשינוי מול החודש הקודם‏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199632" y="4745736"/>
            <a:ext cx="5440680" cy="1207008"/>
          </a:xfrm>
          <a:prstGeom prst="roundRect">
            <a:avLst>
              <a:gd name="adj" fmla="val 909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28232" y="4882896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מילוי מיכל‏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28232" y="5221224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עולה מיכל מלא במחיר המשאבה של היום, לפי ‏95 / 98‏ / סולר‏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1645920"/>
            <a:ext cx="5440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תכנון נסיעה‏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2148840"/>
            <a:ext cx="5440680" cy="1207008"/>
          </a:xfrm>
          <a:prstGeom prst="roundRect">
            <a:avLst>
              <a:gd name="adj" fmla="val 909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77240" y="228600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מרחק ותנועה חיה‏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2624328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מרחק המסלול וזמן הנסיעה מגיעים מ-‏Google Directions‏ בזמן אמת‏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3447288"/>
            <a:ext cx="5440680" cy="1207008"/>
          </a:xfrm>
          <a:prstGeom prst="roundRect">
            <a:avLst>
              <a:gd name="adj" fmla="val 909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77240" y="3584448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הערכת דלק לא-לינארית‏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3922776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עמידה בפקק שורפת הרבה פחות מנסיעה, ולכן קנס העיכוב מוחל בחצי ולא במלואו‏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745736"/>
            <a:ext cx="5440680" cy="1207008"/>
          </a:xfrm>
          <a:prstGeom prst="roundRect">
            <a:avLst>
              <a:gd name="adj" fmla="val 909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77240" y="4882896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"האם אגיע?"‏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221224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משווה דלק במיכל מול הנסיעה, ואם חסר, אומר כמה ליטרים וכמה שקלים‏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08076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150" dirty="0">
                <a:solidFill>
                  <a:srgbClr val="6B7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 בנזין ‏95‏ מפוקח בישראל, ולכן ‏98‏ וסולר מוצגים כמחיר אופייני. "האם אגיע?" מוצג רק כשהרכב דיווח בעצמו על מפלס הדלק.‏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מהאפליקציה‏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המוסך, הדלק והנסיעה‏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724284" y="1522476"/>
            <a:ext cx="1723424" cy="3529584"/>
          </a:xfrm>
          <a:prstGeom prst="roundRect">
            <a:avLst>
              <a:gd name="adj" fmla="val 5306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  <a:effectLst>
            <a:outerShdw blurRad="127000" dist="38100" dir="5400000" algn="bl" rotWithShape="0">
              <a:srgbClr val="8A99A6">
                <a:alpha val="35000"/>
              </a:srgbClr>
            </a:outerShdw>
          </a:effectLst>
        </p:spPr>
      </p:sp>
      <p:pic>
        <p:nvPicPr>
          <p:cNvPr id="5" name="Image 0" descr="Z:\Users\12orb\AppData\Local\Temp\claude\Z--Users-12orb-Desktop-Rupin-AiProjectSpamDetection-EndOfYearCarProject\bc12164c-9673-4caf-a51e-0823e450bec0\scratchpad\shots_trimmed\01-ga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4576" y="1572768"/>
            <a:ext cx="1622840" cy="3429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74416" y="5148072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מסך הבית‏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7374416" y="5477256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1600"/>
              </a:lnSpc>
              <a:buNone/>
            </a:pPr>
            <a:r>
              <a:rPr lang="en-US" sz="1100" dirty="0">
                <a:solidFill>
                  <a:srgbClr val="6B7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הרכב, מצב בריאות, צריכה ממוצעת וספירת תקלות‏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232764" y="1522476"/>
            <a:ext cx="1723424" cy="3529584"/>
          </a:xfrm>
          <a:prstGeom prst="roundRect">
            <a:avLst>
              <a:gd name="adj" fmla="val 5306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  <a:effectLst>
            <a:outerShdw blurRad="127000" dist="38100" dir="5400000" algn="bl" rotWithShape="0">
              <a:srgbClr val="8A99A6">
                <a:alpha val="35000"/>
              </a:srgbClr>
            </a:outerShdw>
          </a:effectLst>
        </p:spPr>
      </p:sp>
      <p:pic>
        <p:nvPicPr>
          <p:cNvPr id="9" name="Image 1" descr="Z:\Users\12orb\AppData\Local\Temp\claude\Z--Users-12orb-Desktop-Rupin-AiProjectSpamDetection-EndOfYearCarProject\bc12164c-9673-4caf-a51e-0823e450bec0\scratchpad\shots_trimmed\09-fu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3056" y="1572768"/>
            <a:ext cx="1622840" cy="3429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882896" y="5148072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מעקב דלק‏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4882896" y="5477256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1600"/>
              </a:lnSpc>
              <a:buNone/>
            </a:pPr>
            <a:r>
              <a:rPr lang="en-US" sz="1100" dirty="0">
                <a:solidFill>
                  <a:srgbClr val="6B7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צריכה אמיתית, עלויות שוטפות ועלות מילוי מיכל‏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741245" y="1522476"/>
            <a:ext cx="1723424" cy="3529584"/>
          </a:xfrm>
          <a:prstGeom prst="roundRect">
            <a:avLst>
              <a:gd name="adj" fmla="val 5306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  <a:effectLst>
            <a:outerShdw blurRad="127000" dist="38100" dir="5400000" algn="bl" rotWithShape="0">
              <a:srgbClr val="8A99A6">
                <a:alpha val="35000"/>
              </a:srgbClr>
            </a:outerShdw>
          </a:effectLst>
        </p:spPr>
      </p:sp>
      <p:pic>
        <p:nvPicPr>
          <p:cNvPr id="13" name="Image 2" descr="Z:\Users\12orb\AppData\Local\Temp\claude\Z--Users-12orb-Desktop-Rupin-AiProjectSpamDetection-EndOfYearCarProject\bc12164c-9673-4caf-a51e-0823e450bec0\scratchpad\shots_trimmed\13-tr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1537" y="1572768"/>
            <a:ext cx="1622840" cy="34290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391376" y="5148072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מתכנן נסיעה‏</a:t>
            </a:r>
            <a:endParaRPr lang="en-US" sz="1450" dirty="0"/>
          </a:p>
        </p:txBody>
      </p:sp>
      <p:sp>
        <p:nvSpPr>
          <p:cNvPr id="15" name="Text 10"/>
          <p:cNvSpPr txBox="1"/>
          <p:nvPr/>
        </p:nvSpPr>
        <p:spPr>
          <a:xfrm>
            <a:off x="2391376" y="5477256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1600"/>
              </a:lnSpc>
              <a:buNone/>
            </a:pPr>
            <a:r>
              <a:rPr lang="en-US" sz="1100" dirty="0">
                <a:solidFill>
                  <a:srgbClr val="6B7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מרחק, תנועה חיה, וכמה דלק באמת צריך‏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יכולות · מיקום‏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מוסכים בסביבה, ותזכורת שמצילה חיים‏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199632" y="1691640"/>
            <a:ext cx="5440680" cy="27432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725912" y="1965960"/>
            <a:ext cx="548640" cy="54864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25912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28232" y="20116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מוצא מוסכים‏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28232" y="2560320"/>
            <a:ext cx="4983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600"/>
              </a:lnSpc>
              <a:buNone/>
            </a:pPr>
            <a:r>
              <a:rPr lang="en-US" sz="13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תוצאות חיות מ-‏Google Places‏, ממוינות לפי קרבה</a:t>
            </a:r>
            <a:endParaRPr lang="en-US" sz="1350" dirty="0"/>
          </a:p>
          <a:p>
            <a:pPr marL="0" indent="0" algn="r" rtl="1">
              <a:lnSpc>
                <a:spcPts val="2600"/>
              </a:lnSpc>
              <a:buNone/>
            </a:pPr>
            <a:r>
              <a:rPr lang="en-US" sz="13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דירוגים אמיתיים ושמות בעברית</a:t>
            </a:r>
            <a:endParaRPr lang="en-US" sz="1350" dirty="0"/>
          </a:p>
          <a:p>
            <a:pPr marL="0" indent="0" algn="r" rtl="1">
              <a:lnSpc>
                <a:spcPts val="2600"/>
              </a:lnSpc>
              <a:buNone/>
            </a:pPr>
            <a:r>
              <a:rPr lang="en-US" sz="13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מרחק אווירי, מספיק כדי לדרג. הניווט עצמו עובר ל-‏Google‏</a:t>
            </a:r>
            <a:endParaRPr lang="en-US" sz="1350" dirty="0"/>
          </a:p>
          <a:p>
            <a:pPr marL="0" indent="0" algn="r" rtl="1">
              <a:lnSpc>
                <a:spcPts val="2600"/>
              </a:lnSpc>
              <a:buNone/>
            </a:pPr>
            <a:r>
              <a:rPr lang="en-US" sz="13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חיוג למוסך בלחיצה אחת‏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1691640"/>
            <a:ext cx="5440680" cy="2743200"/>
          </a:xfrm>
          <a:prstGeom prst="roundRect">
            <a:avLst>
              <a:gd name="adj" fmla="val 4000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74920" y="1965960"/>
            <a:ext cx="548640" cy="54864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7492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0116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תזכורת בטיחות ילדים‏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2560320"/>
            <a:ext cx="4983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600"/>
              </a:lnSpc>
              <a:buNone/>
            </a:pPr>
            <a:r>
              <a:rPr lang="en-US" sz="1350" dirty="0">
                <a:solidFill>
                  <a:srgbClr val="C6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גדר וירטואלית ברדיוס ‏150‏ מטר סביב הבית</a:t>
            </a:r>
            <a:endParaRPr lang="en-US" sz="1350" dirty="0"/>
          </a:p>
          <a:p>
            <a:pPr marL="0" indent="0" algn="r" rtl="1">
              <a:lnSpc>
                <a:spcPts val="2600"/>
              </a:lnSpc>
              <a:buNone/>
            </a:pPr>
            <a:r>
              <a:rPr lang="en-US" sz="1350" dirty="0">
                <a:solidFill>
                  <a:srgbClr val="C6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הגעה מפעילה התראה: בדוק את המושב האחורי</a:t>
            </a:r>
            <a:endParaRPr lang="en-US" sz="1350" dirty="0"/>
          </a:p>
          <a:p>
            <a:pPr marL="0" indent="0" algn="r" rtl="1">
              <a:lnSpc>
                <a:spcPts val="2600"/>
              </a:lnSpc>
              <a:buNone/>
            </a:pPr>
            <a:r>
              <a:rPr lang="en-US" sz="1350" dirty="0">
                <a:solidFill>
                  <a:srgbClr val="C6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מערכת ההפעלה מנטרת, לא האפליקציה, ולכן היא יכולה להיות סגורה</a:t>
            </a:r>
            <a:endParaRPr lang="en-US" sz="1350" dirty="0"/>
          </a:p>
          <a:p>
            <a:pPr marL="0" indent="0" algn="r" rtl="1">
              <a:lnSpc>
                <a:spcPts val="2600"/>
              </a:lnSpc>
              <a:buNone/>
            </a:pPr>
            <a:r>
              <a:rPr lang="en-US" sz="1350" dirty="0">
                <a:solidFill>
                  <a:srgbClr val="C6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כתובת הבית נשמרת רק על המכשיר‏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11091672" cy="1005840"/>
          </a:xfrm>
          <a:prstGeom prst="roundRect">
            <a:avLst>
              <a:gd name="adj" fmla="val 10909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68680" y="4754880"/>
            <a:ext cx="10451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5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אנדרואיד מסלימה ממיקום סלולרי זול ל-‏GPS‏ רק ליד הגבול, וזה מה שהופך את הגדר הווירטואלית לאפשרית מבחינת סוללה.‏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מהאפליקציה‏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מוסכים, היסטוריה וחשבון‏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724284" y="1522476"/>
            <a:ext cx="1723424" cy="3529584"/>
          </a:xfrm>
          <a:prstGeom prst="roundRect">
            <a:avLst>
              <a:gd name="adj" fmla="val 5306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  <a:effectLst>
            <a:outerShdw blurRad="127000" dist="38100" dir="5400000" algn="bl" rotWithShape="0">
              <a:srgbClr val="8A99A6">
                <a:alpha val="35000"/>
              </a:srgbClr>
            </a:outerShdw>
          </a:effectLst>
        </p:spPr>
      </p:sp>
      <p:pic>
        <p:nvPicPr>
          <p:cNvPr id="5" name="Image 0" descr="Z:\Users\12orb\AppData\Local\Temp\claude\Z--Users-12orb-Desktop-Rupin-AiProjectSpamDetection-EndOfYearCarProject\bc12164c-9673-4caf-a51e-0823e450bec0\scratchpad\shots_trimmed\12-mechan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4576" y="1572768"/>
            <a:ext cx="1622840" cy="3429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74416" y="5148072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מוצא מוסכים‏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7374416" y="5477256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1600"/>
              </a:lnSpc>
              <a:buNone/>
            </a:pPr>
            <a:r>
              <a:rPr lang="en-US" sz="1100" dirty="0">
                <a:solidFill>
                  <a:srgbClr val="6B7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מפה ותוצאות חיות מ-‏Google Places‏‏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232764" y="1522476"/>
            <a:ext cx="1723424" cy="3529584"/>
          </a:xfrm>
          <a:prstGeom prst="roundRect">
            <a:avLst>
              <a:gd name="adj" fmla="val 5306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  <a:effectLst>
            <a:outerShdw blurRad="127000" dist="38100" dir="5400000" algn="bl" rotWithShape="0">
              <a:srgbClr val="8A99A6">
                <a:alpha val="35000"/>
              </a:srgbClr>
            </a:outerShdw>
          </a:effectLst>
        </p:spPr>
      </p:sp>
      <p:pic>
        <p:nvPicPr>
          <p:cNvPr id="9" name="Image 1" descr="Z:\Users\12orb\AppData\Local\Temp\claude\Z--Users-12orb-Desktop-Rupin-AiProjectSpamDetection-EndOfYearCarProject\bc12164c-9673-4caf-a51e-0823e450bec0\scratchpad\shots_trimmed\10-hi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3056" y="1572768"/>
            <a:ext cx="1622840" cy="3429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882896" y="5148072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היסטוריית תקלות‏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4882896" y="5477256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1600"/>
              </a:lnSpc>
              <a:buNone/>
            </a:pPr>
            <a:r>
              <a:rPr lang="en-US" sz="1100" dirty="0">
                <a:solidFill>
                  <a:srgbClr val="6B7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סריקה נשמרת, עם דדופליקציה ליום‏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741245" y="1522476"/>
            <a:ext cx="1723424" cy="3529584"/>
          </a:xfrm>
          <a:prstGeom prst="roundRect">
            <a:avLst>
              <a:gd name="adj" fmla="val 5306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  <a:effectLst>
            <a:outerShdw blurRad="127000" dist="38100" dir="5400000" algn="bl" rotWithShape="0">
              <a:srgbClr val="8A99A6">
                <a:alpha val="35000"/>
              </a:srgbClr>
            </a:outerShdw>
          </a:effectLst>
        </p:spPr>
      </p:sp>
      <p:pic>
        <p:nvPicPr>
          <p:cNvPr id="13" name="Image 2" descr="Z:\Users\12orb\AppData\Local\Temp\claude\Z--Users-12orb-Desktop-Rupin-AiProjectSpamDetection-EndOfYearCarProject\bc12164c-9673-4caf-a51e-0823e450bec0\scratchpad\shots_trimmed\14-setting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1537" y="1572768"/>
            <a:ext cx="1622840" cy="34290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391376" y="5148072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הגדרות‏</a:t>
            </a:r>
            <a:endParaRPr lang="en-US" sz="1450" dirty="0"/>
          </a:p>
        </p:txBody>
      </p:sp>
      <p:sp>
        <p:nvSpPr>
          <p:cNvPr id="15" name="Text 10"/>
          <p:cNvSpPr txBox="1"/>
          <p:nvPr/>
        </p:nvSpPr>
        <p:spPr>
          <a:xfrm>
            <a:off x="2391376" y="5477256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1600"/>
              </a:lnSpc>
              <a:buNone/>
            </a:pPr>
            <a:r>
              <a:rPr lang="en-US" sz="1100" dirty="0">
                <a:solidFill>
                  <a:srgbClr val="6B7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מצב תצוגה, התראות סריקה ותזכורת בטיחות הילדים‏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הנדסיות‏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המקומות שבהם הייתה העבודה המעניינת‏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199632" y="1691640"/>
            <a:ext cx="5440680" cy="1874520"/>
          </a:xfrm>
          <a:prstGeom prst="roundRect">
            <a:avLst>
              <a:gd name="adj" fmla="val 585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28232" y="1837944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ספירת תקלות נגזרת, לא נשמרת‏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6428232" y="2221992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סריקה מדווחת על כל הקודים בבת אחת, ולכן מונה שמור מאבד עדכונים במרוץ. הספירה היא ‏COUNT‏ על האירועים, ולכן היא לא יכולה לסתור את מסך ההיסטוריה.‏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28232" y="3154680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UsersController.cs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691640"/>
            <a:ext cx="5440680" cy="1874520"/>
          </a:xfrm>
          <a:prstGeom prst="roundRect">
            <a:avLst>
              <a:gd name="adj" fmla="val 585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1837944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מפתחות ‏Google‏ לא מגיעים לטלפון‏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221992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קריאות ה-‏Maps‏ עוברות דרך פרוקסי בשרת: ‏Google‏ לא שולחת כותרות ‏CORS‏, ומפתח בקוד הלקוח ניתן לחילוץ ולשימוש על חשבוננו.‏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154680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NavigationController.cs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99632" y="3794760"/>
            <a:ext cx="5440680" cy="1874520"/>
          </a:xfrm>
          <a:prstGeom prst="roundRect">
            <a:avLst>
              <a:gd name="adj" fmla="val 585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8232" y="3941064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מחיקת רכב שומרת היסטוריה‏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4325112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אירועי תקלה מנותקים מהרכב במקום להימחק, כך שציר הזמן של המשתמש שורד את מכירת הרכב.‏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28232" y="5257800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VehiclesController.cs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794760"/>
            <a:ext cx="5440680" cy="1874520"/>
          </a:xfrm>
          <a:prstGeom prst="roundRect">
            <a:avLst>
              <a:gd name="adj" fmla="val 585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3941064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החשבון חי בפונקציות טהורות‏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325112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הערכת דלק, תחזית נסיעה ועלות ל-‏100‏ ק"מ, בלי רשת ובלי אחסון, כך שכל מקרה קצה נבדק ביוניט-טסט.‏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257800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utils/fuel.ts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אבטחה‏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אבטחת מידע ופרטיות‏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27080" y="1773936"/>
            <a:ext cx="521208" cy="52120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27080" y="177393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ס‏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348472" y="160020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סיסמאות‏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600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מגובבות ב-‏BCrypt.‏ לא נשמרות ולא נרשמות ללוג בטקסט גלוי, ולא נחשפות בשום תשובת ‏API‏‏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56032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927080" y="2734056"/>
            <a:ext cx="521208" cy="52120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927080" y="273405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e-IL" sz="1400" b="1" dirty="0">
                <a:solidFill>
                  <a:srgbClr val="16222E"/>
                </a:solidFill>
                <a:latin typeface="Arial" pitchFamily="34" charset="0"/>
                <a:cs typeface="Arial" pitchFamily="34" charset="-120"/>
              </a:rPr>
              <a:t>א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348472" y="256032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אימות ותפקידים‏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256032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‏JWT bearer‏ בכל נקודת קצה, ו-‏CanActFor‏ מוודא שמשתמש פועל רק על הנתונים שלו, אלא אם </a:t>
            </a:r>
            <a:r>
              <a:rPr lang="en-US" sz="1250" dirty="0" err="1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הוא</a:t>
            </a: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50" dirty="0" err="1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מנהל</a:t>
            </a: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.‏</a:t>
            </a:r>
          </a:p>
          <a:p>
            <a:pPr marL="0" indent="0" algn="r" rtl="1">
              <a:buNone/>
            </a:pPr>
            <a:r>
              <a:rPr lang="he-IL" sz="1250" b="1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*בדיקת טוקן מאובטח, שמוודאת שכל נהג ניגש רק למידע שלו ומנהל רשאי לגשת </a:t>
            </a:r>
            <a:r>
              <a:rPr lang="he-IL" sz="1250" b="1" dirty="0" err="1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להכל</a:t>
            </a:r>
            <a:r>
              <a:rPr lang="en-US" sz="1250" b="1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* </a:t>
            </a:r>
            <a:endParaRPr lang="en-US" sz="1250" b="1" dirty="0"/>
          </a:p>
        </p:txBody>
      </p:sp>
      <p:sp>
        <p:nvSpPr>
          <p:cNvPr id="14" name="Shape 12"/>
          <p:cNvSpPr/>
          <p:nvPr/>
        </p:nvSpPr>
        <p:spPr>
          <a:xfrm>
            <a:off x="548640" y="35204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927080" y="3694176"/>
            <a:ext cx="521208" cy="52120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27080" y="369417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35204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אימות מייל‏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352044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חובה לפני שמונפק סשן. הקודים פגים, ניחושים שגויים מוגבלים לחמישה, ושליחה חוזרת מוגבלת בקצב‏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48056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0927080" y="4654296"/>
            <a:ext cx="521208" cy="52120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927080" y="465429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348472" y="448056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סודות‏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4805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חיים בקבצי קונפיגורציה ב-‏gitignore.‏ בריפו ובכל ההיסטוריה שלו אין מפתחות אמיתיים‏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4406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927080" y="5614416"/>
            <a:ext cx="521208" cy="52120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927080" y="56144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348472" y="544068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כתובות בית‏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544068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נשמרות רק על המכשיר. אין עמודת מיקום בבסיס הנתונים, כתובת בית לא עוזבת את הטלפון‏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בדיקות‏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‏82‏ יוניט-טסטים בשש חבילות‏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439912" y="1691640"/>
            <a:ext cx="3200400" cy="2011680"/>
          </a:xfrm>
          <a:prstGeom prst="roundRect">
            <a:avLst>
              <a:gd name="adj" fmla="val 5455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439912" y="178308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8439912" y="29260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בדיקות עוברות‏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39912" y="3840480"/>
            <a:ext cx="3200400" cy="18288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641080" y="3977640"/>
            <a:ext cx="27980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00"/>
              </a:lnSpc>
              <a:buNone/>
            </a:pPr>
            <a:r>
              <a:rPr lang="en-US" sz="120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הבדיקות מכוונות בכוונה לפונקציות טהורות, החשבון שמניע את המחוונים ואת הערכות העלות, שם תשובה שגויה היא שקטה ולא בולטת לעין.‏</a:t>
            </a:r>
            <a:endParaRPr lang="en-US" sz="120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548640" y="1691640"/>
          <a:ext cx="77266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טכנולוגיות‏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מחסנית הטכנולוגיות‏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1672" cy="1051560"/>
          </a:xfrm>
          <a:prstGeom prst="roundRect">
            <a:avLst>
              <a:gd name="adj" fmla="val 10435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537192" y="1645920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ניידת‏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645920"/>
            <a:ext cx="9509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C6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Native 0.81 · React 19 · Expo SDK 54 · expo-router · TypeScript · react-native-paper · react-native-maps · expo-location · expo-notifications · AsyncStorage · axios · Jest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825496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9537192" y="2825496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שרת‏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825496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ASP.NET Core 10 · EF Core 8 · SQL Server · BCrypt.Net · JWT bearer · Swashbuckle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730752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537192" y="3730752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פאנל ניהול‏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730752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 · MUI 9 · Vite · axios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636008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537192" y="4636008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קושחה‏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636008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‏ESP32‏ · מנהל התקן ‏TWAI/CAN · ArduinoJson · WebServer‏‏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541264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537192" y="5541264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אחסון וענן‏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541264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השרת ובסיס הנתונים ב-‏Somee‏ · פאנל הניהול ב-‏Netlify‏‏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מגבלות ידועות‏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המערכת לא עושה, וזה בכוונה‏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028432" y="1691640"/>
            <a:ext cx="3611880" cy="1691640"/>
          </a:xfrm>
          <a:prstGeom prst="roundRect">
            <a:avLst>
              <a:gd name="adj" fmla="val 648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0" y="1837944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 ‏95‏ הוא מחיר רשמי‏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2423160"/>
            <a:ext cx="3209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00"/>
              </a:lnSpc>
              <a:buNone/>
            </a:pPr>
            <a:r>
              <a:rPr lang="en-US" sz="120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ישראל שחררה את שאר סוגי הדלק מפיקוח ב-‏2007‏, ולכן ‏98‏ וסולר הם מחירים אופייניים‏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88536" y="1691640"/>
            <a:ext cx="3611880" cy="1691640"/>
          </a:xfrm>
          <a:prstGeom prst="roundRect">
            <a:avLst>
              <a:gd name="adj" fmla="val 648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489704" y="1837944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גודל המיכל מוקלד ידנית‏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4489704" y="2423160"/>
            <a:ext cx="3209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00"/>
              </a:lnSpc>
              <a:buNone/>
            </a:pPr>
            <a:r>
              <a:rPr lang="en-US" sz="120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בסיס נתונים ציבורי שמפרסם קיבולת מיכל לכל דגם‏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691640"/>
            <a:ext cx="3611880" cy="1691640"/>
          </a:xfrm>
          <a:prstGeom prst="roundRect">
            <a:avLst>
              <a:gd name="adj" fmla="val 648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49808" y="1837944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הוספת רכב ידנית מבוססת ‏EPA‏‏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2423160"/>
            <a:ext cx="3209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00"/>
              </a:lnSpc>
              <a:buNone/>
            </a:pPr>
            <a:r>
              <a:rPr lang="en-US" sz="120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ולכן מציגה רק דגמי שוק אמריקאי. מסלול מספר הרישוי מכסה רכבים ישראליים‏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28432" y="3611880"/>
            <a:ext cx="3611880" cy="1691640"/>
          </a:xfrm>
          <a:prstGeom prst="roundRect">
            <a:avLst>
              <a:gd name="adj" fmla="val 648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0" y="3758184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קנס התנועה הוא הנחת מודל‏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4343400"/>
            <a:ext cx="3209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00"/>
              </a:lnSpc>
              <a:buNone/>
            </a:pPr>
            <a:r>
              <a:rPr lang="en-US" sz="120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ולא קבוע שנמדד בשטח מול צריכה אמיתית בפקקים‏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88536" y="3611880"/>
            <a:ext cx="3611880" cy="1691640"/>
          </a:xfrm>
          <a:prstGeom prst="roundRect">
            <a:avLst>
              <a:gd name="adj" fmla="val 648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489704" y="3758184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מרחקים למוסכים אוויריים‏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489704" y="4343400"/>
            <a:ext cx="3209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00"/>
              </a:lnSpc>
              <a:buNone/>
            </a:pPr>
            <a:r>
              <a:rPr lang="en-US" sz="120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מספיק כדי לדרג; כפתור הניווט מעביר את המסלול האמיתי ל-‏Google‏‏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611880"/>
            <a:ext cx="3611880" cy="1691640"/>
          </a:xfrm>
          <a:prstGeom prst="roundRect">
            <a:avLst>
              <a:gd name="adj" fmla="val 648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49808" y="3758184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מיקום ברקע לא זמין ב-‏Expo Go‏‏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749808" y="4343400"/>
            <a:ext cx="3209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00"/>
              </a:lnSpc>
              <a:buNone/>
            </a:pPr>
            <a:r>
              <a:rPr lang="en-US" sz="120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ולכן בהגדרות יש כפתור שמפעיל את התראת הבטיחות ישירות להדגמה‏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6B7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אלה גבולות תכנון שהוצגו במפורש, לא פספוסים.‏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22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מקוד בן חמישה תווים למשפט אחד שאפשר לפעול לפיו‏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942832" y="219456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22323F"/>
          </a:solidFill>
          <a:ln w="12700">
            <a:solidFill>
              <a:srgbClr val="2232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42832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942832" y="32004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dirty="0">
                <a:solidFill>
                  <a:srgbClr val="C6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רכיבים במערכת‏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44768" y="219456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22323F"/>
          </a:solidFill>
          <a:ln w="12700">
            <a:solidFill>
              <a:srgbClr val="2232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44768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6144768" y="32004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dirty="0">
                <a:solidFill>
                  <a:srgbClr val="C6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בדיקות אוטומטיות‏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46704" y="219456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22323F"/>
          </a:solidFill>
          <a:ln w="12700">
            <a:solidFill>
              <a:srgbClr val="22323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46704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3346704" y="32004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dirty="0">
                <a:solidFill>
                  <a:srgbClr val="C6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קודי תקלה במילון‏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219456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22323F"/>
          </a:solidFill>
          <a:ln w="12700">
            <a:solidFill>
              <a:srgbClr val="22323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4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2004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dirty="0">
                <a:solidFill>
                  <a:srgbClr val="C6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שירותים חיצוניים‏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5196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ts val="2600"/>
              </a:lnSpc>
              <a:buNone/>
            </a:pPr>
            <a:r>
              <a:rPr lang="en-US" sz="1500" dirty="0">
                <a:solidFill>
                  <a:srgbClr val="C6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הפרויקט מכסה את כל השרשרת: קושחה שקוראת ‏CAN‏, אפליקציה ניידת, שרת עם בסיס נתונים, פאנל ניהול, ואינטגרציה מול תשעה שירותים חיצוניים, עם אבטחה, בדיקות אוטומטיות ומגבלות מוצהרות.‏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57784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תודה  ·  ‏CarStats‏‏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1758</Words>
  <Application>Microsoft Office PowerPoint</Application>
  <PresentationFormat>מסך רחב</PresentationFormat>
  <Paragraphs>240</Paragraphs>
  <Slides>16</Slides>
  <Notes>16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16</vt:i4>
      </vt:variant>
    </vt:vector>
  </HeadingPairs>
  <TitlesOfParts>
    <vt:vector size="19" baseType="lpstr">
      <vt:lpstr>Arial</vt:lpstr>
      <vt:lpstr>Courier New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CarStats - פרויקט גמר</dc:title>
  <dc:subject>PptxGenJS Presentation</dc:subject>
  <dc:creator>CarStats</dc:creator>
  <cp:lastModifiedBy>Itay Sasson</cp:lastModifiedBy>
  <cp:revision>3</cp:revision>
  <dcterms:created xsi:type="dcterms:W3CDTF">2026-09-06T13:11:25Z</dcterms:created>
  <dcterms:modified xsi:type="dcterms:W3CDTF">2026-09-07T01:14:54Z</dcterms:modified>
</cp:coreProperties>
</file>