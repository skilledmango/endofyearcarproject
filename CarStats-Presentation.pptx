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7" r:id="rId12"/>
    <p:sldId id="270" r:id="rId13"/>
    <p:sldId id="271" r:id="rId1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11" d="100"/>
          <a:sy n="111" d="100"/>
        </p:scale>
        <p:origin x="558" y="96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327965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שקופית פתיחה: מציגים את שם הפרויקט ואת השרשרת המלאה מהרכב ועד הנהג.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הבעיה: הקוד קיים בכל רכב, אבל הוא חסר משמעות לנהג.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ארבעת השלבים הם הסיפור המרכזי של המערכת.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החץ מתאר את זרימת המידע: מהרכב, דרך המתאם והאפליקציה, אל השרת ובסיס הנתונים.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34 הקודים הם המילון הידני; כל השאר נופל ל-AI.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צילומי מסך אמיתיים מהאפליקציה הרצה על אמולטור אנדרואיד.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שתי העמודות: מה שקורה אחרי הנסיעה, ומה שקורה לפניה.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צילומי מסך אמיתיים מהאפליקציה הרצה על אמולטור אנדרואיד.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החלק של הגדר הווירטואלית הוא ההחלטה ההנדסית המעניינת כאן.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צילומי מסך אמיתיים מהאפליקציה הרצה על אמולטור אנדרואיד.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פרטיות: הכתובת של המשתמש בכלל לא מגיעה לשרת.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להציג את המגבלות ביושר — זה מחזק את הפרויקט ולא מחליש אותו.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סיכום במספרים, ואז פתיחה לשאלות.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22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005840" y="1005840"/>
            <a:ext cx="4846320" cy="4846320"/>
          </a:xfrm>
          <a:prstGeom prst="ellipse">
            <a:avLst/>
          </a:prstGeom>
          <a:solidFill>
            <a:srgbClr val="16222E"/>
          </a:solidFill>
          <a:ln w="177800">
            <a:solidFill>
              <a:srgbClr val="22323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-457200" y="1554480"/>
            <a:ext cx="3749040" cy="3749040"/>
          </a:xfrm>
          <a:prstGeom prst="ellipse">
            <a:avLst/>
          </a:prstGeom>
          <a:solidFill>
            <a:srgbClr val="16222E"/>
          </a:solidFill>
          <a:ln w="762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685800" y="2697480"/>
            <a:ext cx="1463040" cy="1463040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 txBox="1"/>
          <p:nvPr/>
        </p:nvSpPr>
        <p:spPr>
          <a:xfrm>
            <a:off x="685800" y="2697480"/>
            <a:ext cx="1463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OBD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4206240" y="1691640"/>
            <a:ext cx="740664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r" rtl="1">
              <a:buNone/>
            </a:pPr>
            <a:r>
              <a:rPr lang="en-US" sz="6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CarStats</a:t>
            </a:r>
            <a:endParaRPr lang="en-US" sz="6000" dirty="0"/>
          </a:p>
        </p:txBody>
      </p:sp>
      <p:sp>
        <p:nvSpPr>
          <p:cNvPr id="7" name="Text 5"/>
          <p:cNvSpPr txBox="1"/>
          <p:nvPr/>
        </p:nvSpPr>
        <p:spPr>
          <a:xfrm>
            <a:off x="4206240" y="2834640"/>
            <a:ext cx="74066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r" rtl="1">
              <a:buNone/>
            </a:pPr>
            <a:r>
              <a:rPr lang="en-US" sz="2000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אפליקציית אבחון רכב ‏OBD-II‏ לנהגים בישראל‏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4206240" y="3520440"/>
            <a:ext cx="74066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r" rtl="1">
              <a:lnSpc>
                <a:spcPts val="2400"/>
              </a:lnSpc>
              <a:buNone/>
            </a:pPr>
            <a:r>
              <a:rPr lang="en-US" sz="1400" dirty="0">
                <a:solidFill>
                  <a:srgbClr val="C6D2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מהרשת של הרכב ועד משפט אחד שהנהג יכול לפעול לפיו:</a:t>
            </a:r>
            <a:endParaRPr lang="en-US" sz="1400" dirty="0"/>
          </a:p>
          <a:p>
            <a:pPr marL="0" indent="0" algn="r" rtl="1">
              <a:lnSpc>
                <a:spcPts val="2400"/>
              </a:lnSpc>
              <a:buNone/>
            </a:pPr>
            <a:r>
              <a:rPr lang="en-US" sz="1400" dirty="0">
                <a:solidFill>
                  <a:srgbClr val="C6D2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קוד תקלה ← הסבר בשפה פשוטה ← דירוג חומרה ← מחיר תיקון בשקלים ← המוסך הקרוב‏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206240" y="4846320"/>
            <a:ext cx="74066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6B7A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פרויקט גמר  ·  אפליקציה ניידת · שרת · בסיס נתונים · פאנל ניהול · קושחה‏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1672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r" rtl="1">
              <a:buNone/>
            </a:pPr>
            <a:r>
              <a:rPr lang="en-US" sz="1200" b="1" kern="0" spc="100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הבעיה‏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1672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r" rtl="1">
              <a:buNone/>
            </a:pPr>
            <a:r>
              <a:rPr lang="en-US" sz="36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נהג שרואה קוד תקלה לא לומד ממנו כלום‏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7635240" y="1600200"/>
            <a:ext cx="4005072" cy="3931920"/>
          </a:xfrm>
          <a:prstGeom prst="roundRect">
            <a:avLst>
              <a:gd name="adj" fmla="val 2791"/>
            </a:avLst>
          </a:prstGeom>
          <a:solidFill>
            <a:srgbClr val="16222E"/>
          </a:solidFill>
          <a:ln w="12700">
            <a:solidFill>
              <a:srgbClr val="16222E"/>
            </a:solidFill>
            <a:prstDash val="solid"/>
          </a:ln>
          <a:effectLst>
            <a:outerShdw blurRad="101600" dist="25400" dir="5400000" algn="bl" rotWithShape="0">
              <a:srgbClr val="9AA9B5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 txBox="1"/>
          <p:nvPr/>
        </p:nvSpPr>
        <p:spPr>
          <a:xfrm>
            <a:off x="7635240" y="2286000"/>
            <a:ext cx="40050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400" b="1" dirty="0">
                <a:solidFill>
                  <a:srgbClr val="F5A6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P0420</a:t>
            </a:r>
            <a:endParaRPr lang="en-US" sz="5400" dirty="0"/>
          </a:p>
        </p:txBody>
      </p:sp>
      <p:sp>
        <p:nvSpPr>
          <p:cNvPr id="6" name="Text 4"/>
          <p:cNvSpPr txBox="1"/>
          <p:nvPr/>
        </p:nvSpPr>
        <p:spPr>
          <a:xfrm>
            <a:off x="7635240" y="3474720"/>
            <a:ext cx="400507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 rtl="1">
              <a:lnSpc>
                <a:spcPts val="2200"/>
              </a:lnSpc>
              <a:buNone/>
            </a:pPr>
            <a:r>
              <a:rPr lang="en-US" sz="1400" dirty="0">
                <a:solidFill>
                  <a:srgbClr val="C6D2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זה כל מה שסורק רגיל</a:t>
            </a:r>
            <a:endParaRPr lang="en-US" sz="1400" dirty="0"/>
          </a:p>
          <a:p>
            <a:pPr marL="0" indent="0" algn="ctr" rtl="1">
              <a:lnSpc>
                <a:spcPts val="2200"/>
              </a:lnSpc>
              <a:buNone/>
            </a:pPr>
            <a:r>
              <a:rPr lang="en-US" sz="1400" dirty="0">
                <a:solidFill>
                  <a:srgbClr val="C6D2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מחזיר לנהג‏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6766560" cy="868680"/>
          </a:xfrm>
          <a:prstGeom prst="roundRect">
            <a:avLst>
              <a:gd name="adj" fmla="val 12632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  <a:effectLst>
            <a:outerShdw blurRad="101600" dist="25400" dir="5400000" algn="bl" rotWithShape="0">
              <a:srgbClr val="9AA9B5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6537960" y="1938528"/>
            <a:ext cx="457200" cy="457200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 txBox="1"/>
          <p:nvPr/>
        </p:nvSpPr>
        <p:spPr>
          <a:xfrm>
            <a:off x="6537960" y="19385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1737360"/>
            <a:ext cx="5577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בעצם מקולקל ברכב‏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48640" y="2788920"/>
            <a:ext cx="6766560" cy="868680"/>
          </a:xfrm>
          <a:prstGeom prst="roundRect">
            <a:avLst>
              <a:gd name="adj" fmla="val 12632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  <a:effectLst>
            <a:outerShdw blurRad="101600" dist="25400" dir="5400000" algn="bl" rotWithShape="0">
              <a:srgbClr val="9AA9B5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6537960" y="2990088"/>
            <a:ext cx="457200" cy="457200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 txBox="1"/>
          <p:nvPr/>
        </p:nvSpPr>
        <p:spPr>
          <a:xfrm>
            <a:off x="6537960" y="29900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2788920"/>
            <a:ext cx="5577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האם בטוח להמשיך לנסוע‏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548640" y="3840480"/>
            <a:ext cx="6766560" cy="868680"/>
          </a:xfrm>
          <a:prstGeom prst="roundRect">
            <a:avLst>
              <a:gd name="adj" fmla="val 12632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  <a:effectLst>
            <a:outerShdw blurRad="101600" dist="25400" dir="5400000" algn="bl" rotWithShape="0">
              <a:srgbClr val="9AA9B5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6537960" y="4041648"/>
            <a:ext cx="457200" cy="457200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 txBox="1"/>
          <p:nvPr/>
        </p:nvSpPr>
        <p:spPr>
          <a:xfrm>
            <a:off x="6537960" y="40416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₪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" y="3840480"/>
            <a:ext cx="5577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כמה התיקון אמור לעלות‏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4983480"/>
            <a:ext cx="67665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r" rtl="1">
              <a:lnSpc>
                <a:spcPts val="2200"/>
              </a:lnSpc>
              <a:buNone/>
            </a:pPr>
            <a:r>
              <a:rPr lang="en-US" sz="1300" dirty="0">
                <a:solidFill>
                  <a:srgbClr val="6B7A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רכב שיוצר מ-‏2001‏ ואילך שומר תקלות כקוד בן חמישה תווים. סורקים מסחריים עולים מאות שקלים, ומחזירים בדיוק את אותם קודים גולמיים.‏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1672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r" rtl="1">
              <a:buNone/>
            </a:pPr>
            <a:r>
              <a:rPr lang="en-US" sz="1200" b="1" kern="0" spc="100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הפתרון‏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1672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r" rtl="1">
              <a:buNone/>
            </a:pPr>
            <a:r>
              <a:rPr lang="en-US" sz="36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ארבעה צעדים מהמנוע אל הנהג‏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8942832" y="1737360"/>
            <a:ext cx="2697480" cy="2880360"/>
          </a:xfrm>
          <a:prstGeom prst="roundRect">
            <a:avLst>
              <a:gd name="adj" fmla="val 4068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  <a:effectLst>
            <a:outerShdw blurRad="101600" dist="25400" dir="5400000" algn="bl" rotWithShape="0">
              <a:srgbClr val="9AA9B5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0771632" y="1965960"/>
            <a:ext cx="566928" cy="566928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 txBox="1"/>
          <p:nvPr/>
        </p:nvSpPr>
        <p:spPr>
          <a:xfrm>
            <a:off x="10771632" y="19659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144000" y="2633472"/>
            <a:ext cx="2295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buNone/>
            </a:pPr>
            <a:r>
              <a:rPr lang="en-US" sz="22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קורא‏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9144000" y="3127248"/>
            <a:ext cx="229514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lnSpc>
                <a:spcPts val="2100"/>
              </a:lnSpc>
              <a:buNone/>
            </a:pPr>
            <a:r>
              <a:rPr lang="en-US" sz="1250" dirty="0">
                <a:solidFill>
                  <a:srgbClr val="4456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מתאם ‏ESP32‏ שבנינו מתחבר ליציאת ה-‏OBD-II‏, קורא את רשת ה-‏CAN‏ ומשרת את הקודים כ-‏JSON‏ ברשת המקומית‏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144768" y="1737360"/>
            <a:ext cx="2697480" cy="2880360"/>
          </a:xfrm>
          <a:prstGeom prst="roundRect">
            <a:avLst>
              <a:gd name="adj" fmla="val 4068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  <a:effectLst>
            <a:outerShdw blurRad="101600" dist="25400" dir="5400000" algn="bl" rotWithShape="0">
              <a:srgbClr val="9AA9B5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7973568" y="1965960"/>
            <a:ext cx="566928" cy="566928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 txBox="1"/>
          <p:nvPr/>
        </p:nvSpPr>
        <p:spPr>
          <a:xfrm>
            <a:off x="7973568" y="19659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345936" y="2633472"/>
            <a:ext cx="2295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buNone/>
            </a:pPr>
            <a:r>
              <a:rPr lang="en-US" sz="22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מתרגם‏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6345936" y="3127248"/>
            <a:ext cx="229514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lnSpc>
                <a:spcPts val="2100"/>
              </a:lnSpc>
              <a:buNone/>
            </a:pPr>
            <a:r>
              <a:rPr lang="en-US" sz="1250" dirty="0">
                <a:solidFill>
                  <a:srgbClr val="4456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קוד עובר מול מילון של ‏34‏ תקלות: הסבר בשפה פשוטה ודירוג חומרה. קוד שלא במילון מוסבר ע"י ‏Gemini‏ ומסומן כתוכן ‏AI‏‏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3346704" y="1737360"/>
            <a:ext cx="2697480" cy="2880360"/>
          </a:xfrm>
          <a:prstGeom prst="roundRect">
            <a:avLst>
              <a:gd name="adj" fmla="val 4068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  <a:effectLst>
            <a:outerShdw blurRad="101600" dist="25400" dir="5400000" algn="bl" rotWithShape="0">
              <a:srgbClr val="9AA9B5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5175504" y="1965960"/>
            <a:ext cx="566928" cy="566928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 txBox="1"/>
          <p:nvPr/>
        </p:nvSpPr>
        <p:spPr>
          <a:xfrm>
            <a:off x="5175504" y="19659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3547872" y="2633472"/>
            <a:ext cx="2295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buNone/>
            </a:pPr>
            <a:r>
              <a:rPr lang="en-US" sz="22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מתמחר‏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3547872" y="3127248"/>
            <a:ext cx="229514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lnSpc>
                <a:spcPts val="2100"/>
              </a:lnSpc>
              <a:buNone/>
            </a:pPr>
            <a:r>
              <a:rPr lang="en-US" sz="1250" dirty="0">
                <a:solidFill>
                  <a:srgbClr val="4456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לכל תקלה מוצמד טווח מחיר תיקון ריאלי בשקלים, כדי שהנהג יידע למה לצפות עוד לפני שהוא מגיע למוסך‏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1737360"/>
            <a:ext cx="2697480" cy="2880360"/>
          </a:xfrm>
          <a:prstGeom prst="roundRect">
            <a:avLst>
              <a:gd name="adj" fmla="val 4068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  <a:effectLst>
            <a:outerShdw blurRad="101600" dist="25400" dir="5400000" algn="bl" rotWithShape="0">
              <a:srgbClr val="9AA9B5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2377440" y="1965960"/>
            <a:ext cx="566928" cy="566928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 txBox="1"/>
          <p:nvPr/>
        </p:nvSpPr>
        <p:spPr>
          <a:xfrm>
            <a:off x="2377440" y="19659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749808" y="2633472"/>
            <a:ext cx="2295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buNone/>
            </a:pPr>
            <a:r>
              <a:rPr lang="en-US" sz="22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מפנה‏</a:t>
            </a:r>
            <a:endParaRPr lang="en-US" sz="2200" dirty="0"/>
          </a:p>
        </p:txBody>
      </p:sp>
      <p:sp>
        <p:nvSpPr>
          <p:cNvPr id="23" name="Text 21"/>
          <p:cNvSpPr txBox="1"/>
          <p:nvPr/>
        </p:nvSpPr>
        <p:spPr>
          <a:xfrm>
            <a:off x="749808" y="3127248"/>
            <a:ext cx="229514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lnSpc>
                <a:spcPts val="2100"/>
              </a:lnSpc>
              <a:buNone/>
            </a:pPr>
            <a:r>
              <a:rPr lang="en-US" sz="1250" dirty="0">
                <a:solidFill>
                  <a:srgbClr val="4456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רשימת מוסכים חיה מ-‏Google Places‏, ממוינת לפי קרבה, עם דירוגים אמיתיים, חיוג בלחיצה וניווט‏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548640" y="4937760"/>
            <a:ext cx="11091672" cy="914400"/>
          </a:xfrm>
          <a:prstGeom prst="roundRect">
            <a:avLst>
              <a:gd name="adj" fmla="val 12000"/>
            </a:avLst>
          </a:prstGeom>
          <a:solidFill>
            <a:srgbClr val="16222E"/>
          </a:solidFill>
          <a:ln w="12700">
            <a:solidFill>
              <a:srgbClr val="16222E"/>
            </a:solidFill>
            <a:prstDash val="solid"/>
          </a:ln>
          <a:effectLst>
            <a:outerShdw blurRad="101600" dist="25400" dir="5400000" algn="bl" rotWithShape="0">
              <a:srgbClr val="9AA9B5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 txBox="1"/>
          <p:nvPr/>
        </p:nvSpPr>
        <p:spPr>
          <a:xfrm>
            <a:off x="868680" y="4937760"/>
            <a:ext cx="104515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הטלפון לעולם לא מדבר ישירות עם הרכב: המתאם קורא, האפליקציה מציגה, והשרת מתרגם.‏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1672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r" rtl="1">
              <a:buNone/>
            </a:pPr>
            <a:r>
              <a:rPr lang="en-US" sz="1200" b="1" kern="0" spc="100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ארכיטקטורה‏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1672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r" rtl="1">
              <a:buNone/>
            </a:pPr>
            <a:r>
              <a:rPr lang="en-US" sz="36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חמישה רכיבים, שרשרת אחת‏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9537192" y="1920240"/>
            <a:ext cx="2103120" cy="2057400"/>
          </a:xfrm>
          <a:prstGeom prst="roundRect">
            <a:avLst>
              <a:gd name="adj" fmla="val 5333"/>
            </a:avLst>
          </a:prstGeom>
          <a:solidFill>
            <a:srgbClr val="16222E"/>
          </a:solidFill>
          <a:ln w="12700">
            <a:solidFill>
              <a:srgbClr val="16222E"/>
            </a:solidFill>
            <a:prstDash val="solid"/>
          </a:ln>
          <a:effectLst>
            <a:outerShdw blurRad="101600" dist="25400" dir="5400000" algn="bl" rotWithShape="0">
              <a:srgbClr val="9AA9B5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 txBox="1"/>
          <p:nvPr/>
        </p:nvSpPr>
        <p:spPr>
          <a:xfrm>
            <a:off x="9674352" y="212140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 rtl="1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מחשב הרכב‏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9674352" y="260604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 rtl="1">
              <a:buNone/>
            </a:pPr>
            <a:r>
              <a:rPr lang="en-US" sz="1200" dirty="0">
                <a:solidFill>
                  <a:srgbClr val="C6D2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ECU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9674352" y="331012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 bus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 flipH="1">
            <a:off x="9386316" y="2944368"/>
            <a:ext cx="192024" cy="0"/>
          </a:xfrm>
          <a:prstGeom prst="line">
            <a:avLst/>
          </a:prstGeom>
          <a:noFill/>
          <a:ln w="25400">
            <a:solidFill>
              <a:srgbClr val="F5A623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7287768" y="1920240"/>
            <a:ext cx="2103120" cy="2057400"/>
          </a:xfrm>
          <a:prstGeom prst="roundRect">
            <a:avLst>
              <a:gd name="adj" fmla="val 5333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  <a:effectLst>
            <a:outerShdw blurRad="101600" dist="25400" dir="5400000" algn="bl" rotWithShape="0">
              <a:srgbClr val="9AA9B5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 txBox="1"/>
          <p:nvPr/>
        </p:nvSpPr>
        <p:spPr>
          <a:xfrm>
            <a:off x="7424928" y="212140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 rtl="1">
              <a:buNone/>
            </a:pPr>
            <a:r>
              <a:rPr lang="en-US" sz="15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מתאם ‏ESP32‏‏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7424928" y="260604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 rtl="1">
              <a:buNone/>
            </a:pPr>
            <a:r>
              <a:rPr lang="he-IL" sz="1200" dirty="0">
                <a:solidFill>
                  <a:srgbClr val="44566B"/>
                </a:solidFill>
                <a:latin typeface="Arial" pitchFamily="34" charset="0"/>
                <a:cs typeface="Arial" pitchFamily="34" charset="-120"/>
              </a:rPr>
              <a:t>צ'יפ מתוכנת לקריאת נתונים</a:t>
            </a:r>
          </a:p>
        </p:txBody>
      </p:sp>
      <p:sp>
        <p:nvSpPr>
          <p:cNvPr id="12" name="Text 10"/>
          <p:cNvSpPr txBox="1"/>
          <p:nvPr/>
        </p:nvSpPr>
        <p:spPr>
          <a:xfrm>
            <a:off x="7424928" y="331012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C++ / TWAI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038344" y="1920240"/>
            <a:ext cx="2103120" cy="2057400"/>
          </a:xfrm>
          <a:prstGeom prst="roundRect">
            <a:avLst>
              <a:gd name="adj" fmla="val 5333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  <a:effectLst>
            <a:outerShdw blurRad="101600" dist="25400" dir="5400000" algn="bl" rotWithShape="0">
              <a:srgbClr val="9AA9B5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 txBox="1"/>
          <p:nvPr/>
        </p:nvSpPr>
        <p:spPr>
          <a:xfrm>
            <a:off x="5175504" y="212140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 rtl="1">
              <a:buNone/>
            </a:pPr>
            <a:r>
              <a:rPr lang="en-US" sz="15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אפליקציה ניידת‏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5175504" y="260604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 rtl="1">
              <a:buNone/>
            </a:pPr>
            <a:r>
              <a:rPr lang="en-US" sz="1200" dirty="0">
                <a:solidFill>
                  <a:srgbClr val="4456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המסך של הנהג‏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175504" y="331012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 Native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788920" y="1920240"/>
            <a:ext cx="2103120" cy="2057400"/>
          </a:xfrm>
          <a:prstGeom prst="roundRect">
            <a:avLst>
              <a:gd name="adj" fmla="val 5333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  <a:effectLst>
            <a:outerShdw blurRad="101600" dist="25400" dir="5400000" algn="bl" rotWithShape="0">
              <a:srgbClr val="9AA9B5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 txBox="1"/>
          <p:nvPr/>
        </p:nvSpPr>
        <p:spPr>
          <a:xfrm>
            <a:off x="2926080" y="212140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 rtl="1">
              <a:buNone/>
            </a:pPr>
            <a:r>
              <a:rPr lang="en-US" sz="15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שרת ‏API‏‏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2926080" y="260604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 rtl="1">
              <a:buNone/>
            </a:pPr>
            <a:r>
              <a:rPr lang="en-US" sz="1200" dirty="0">
                <a:solidFill>
                  <a:srgbClr val="4456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לוגיקה ותרגום‏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2926080" y="331012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ASP.NET Core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39496" y="1920240"/>
            <a:ext cx="2103120" cy="2057400"/>
          </a:xfrm>
          <a:prstGeom prst="roundRect">
            <a:avLst>
              <a:gd name="adj" fmla="val 5333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  <a:effectLst>
            <a:outerShdw blurRad="101600" dist="25400" dir="5400000" algn="bl" rotWithShape="0">
              <a:srgbClr val="9AA9B5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 txBox="1"/>
          <p:nvPr/>
        </p:nvSpPr>
        <p:spPr>
          <a:xfrm>
            <a:off x="676656" y="212140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 rtl="1">
              <a:buNone/>
            </a:pPr>
            <a:r>
              <a:rPr lang="en-US" sz="15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בסיס נתונים‏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676656" y="260604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 rtl="1">
              <a:buNone/>
            </a:pPr>
            <a:r>
              <a:rPr lang="en-US" sz="1200" dirty="0">
                <a:solidFill>
                  <a:srgbClr val="4456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משתמשים והיסטוריה‏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76656" y="331012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 Server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199632" y="4389120"/>
            <a:ext cx="5440680" cy="1463040"/>
          </a:xfrm>
          <a:prstGeom prst="roundRect">
            <a:avLst>
              <a:gd name="adj" fmla="val 7500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  <a:effectLst>
            <a:outerShdw blurRad="101600" dist="25400" dir="5400000" algn="bl" rotWithShape="0">
              <a:srgbClr val="9AA9B5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 txBox="1"/>
          <p:nvPr/>
        </p:nvSpPr>
        <p:spPr>
          <a:xfrm>
            <a:off x="6428232" y="4553712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buNone/>
            </a:pPr>
            <a:r>
              <a:rPr lang="en-US" sz="15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פאנל ניהול‏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6428232" y="4937760"/>
            <a:ext cx="4983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lnSpc>
                <a:spcPts val="2000"/>
              </a:lnSpc>
              <a:buNone/>
            </a:pPr>
            <a:r>
              <a:rPr lang="en-US" sz="1250" dirty="0">
                <a:solidFill>
                  <a:srgbClr val="4456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‏React 19 + MUI‏, מנהל משתמשים, רכבים ומילון התקלות מול אותו ‏API‏‏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548640" y="4389120"/>
            <a:ext cx="5440680" cy="1463040"/>
          </a:xfrm>
          <a:prstGeom prst="roundRect">
            <a:avLst>
              <a:gd name="adj" fmla="val 7500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  <a:effectLst>
            <a:outerShdw blurRad="101600" dist="25400" dir="5400000" algn="bl" rotWithShape="0">
              <a:srgbClr val="9AA9B5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 txBox="1"/>
          <p:nvPr/>
        </p:nvSpPr>
        <p:spPr>
          <a:xfrm>
            <a:off x="777240" y="4553712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buNone/>
            </a:pPr>
            <a:r>
              <a:rPr lang="en-US" sz="15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שירותים חיצוניים‏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777240" y="4937760"/>
            <a:ext cx="4983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lnSpc>
                <a:spcPts val="2000"/>
              </a:lnSpc>
              <a:buNone/>
            </a:pPr>
            <a:r>
              <a:rPr lang="en-US" sz="1250" dirty="0">
                <a:solidFill>
                  <a:srgbClr val="4456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‏Google Maps, Brevo, NHTSA, EPA, NRCan, data.gov.il‏ ו-‏Gemini‏‏</a:t>
            </a:r>
            <a:endParaRPr lang="en-US" sz="1250" dirty="0"/>
          </a:p>
        </p:txBody>
      </p:sp>
      <p:sp>
        <p:nvSpPr>
          <p:cNvPr id="37" name="Shape 6">
            <a:extLst>
              <a:ext uri="{FF2B5EF4-FFF2-40B4-BE49-F238E27FC236}">
                <a16:creationId xmlns:a16="http://schemas.microsoft.com/office/drawing/2014/main" id="{BF83C9F5-C58B-2495-08CE-D36A80128DAD}"/>
              </a:ext>
            </a:extLst>
          </p:cNvPr>
          <p:cNvSpPr/>
          <p:nvPr/>
        </p:nvSpPr>
        <p:spPr>
          <a:xfrm flipH="1">
            <a:off x="7128595" y="2944368"/>
            <a:ext cx="192024" cy="0"/>
          </a:xfrm>
          <a:prstGeom prst="line">
            <a:avLst/>
          </a:prstGeom>
          <a:noFill/>
          <a:ln w="25400">
            <a:solidFill>
              <a:srgbClr val="F5A623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39" name="Shape 6">
            <a:extLst>
              <a:ext uri="{FF2B5EF4-FFF2-40B4-BE49-F238E27FC236}">
                <a16:creationId xmlns:a16="http://schemas.microsoft.com/office/drawing/2014/main" id="{53F1EFDF-3AF3-A7AC-B35F-D409152F7EB4}"/>
              </a:ext>
            </a:extLst>
          </p:cNvPr>
          <p:cNvSpPr/>
          <p:nvPr/>
        </p:nvSpPr>
        <p:spPr>
          <a:xfrm flipH="1">
            <a:off x="4892040" y="2942336"/>
            <a:ext cx="192024" cy="0"/>
          </a:xfrm>
          <a:prstGeom prst="line">
            <a:avLst/>
          </a:prstGeom>
          <a:noFill/>
          <a:ln w="25400">
            <a:solidFill>
              <a:srgbClr val="F5A623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41" name="Shape 6">
            <a:extLst>
              <a:ext uri="{FF2B5EF4-FFF2-40B4-BE49-F238E27FC236}">
                <a16:creationId xmlns:a16="http://schemas.microsoft.com/office/drawing/2014/main" id="{AA243FA8-B610-F841-0A33-DBFD56EF7E9F}"/>
              </a:ext>
            </a:extLst>
          </p:cNvPr>
          <p:cNvSpPr/>
          <p:nvPr/>
        </p:nvSpPr>
        <p:spPr>
          <a:xfrm flipH="1">
            <a:off x="2596896" y="2944368"/>
            <a:ext cx="192024" cy="0"/>
          </a:xfrm>
          <a:prstGeom prst="line">
            <a:avLst/>
          </a:prstGeom>
          <a:noFill/>
          <a:ln w="25400">
            <a:solidFill>
              <a:srgbClr val="F5A623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1672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r" rtl="1">
              <a:buNone/>
            </a:pPr>
            <a:r>
              <a:rPr lang="en-US" sz="1200" b="1" kern="0" spc="100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יכולות · אבחון‏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1672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r" rtl="1">
              <a:buNone/>
            </a:pPr>
            <a:r>
              <a:rPr lang="en-US" sz="36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האפליקציה יודעת לעשות ברכב‏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199632" y="1691640"/>
            <a:ext cx="5440680" cy="1417320"/>
          </a:xfrm>
          <a:prstGeom prst="roundRect">
            <a:avLst>
              <a:gd name="adj" fmla="val 7742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  <a:effectLst>
            <a:outerShdw blurRad="101600" dist="25400" dir="5400000" algn="bl" rotWithShape="0">
              <a:srgbClr val="9AA9B5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0954512" y="1947672"/>
            <a:ext cx="411480" cy="411480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 txBox="1"/>
          <p:nvPr/>
        </p:nvSpPr>
        <p:spPr>
          <a:xfrm>
            <a:off x="10954512" y="194767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428232" y="185623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נתוני מנוע חיים‏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6428232" y="2258568"/>
            <a:ext cx="4892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lnSpc>
                <a:spcPts val="2000"/>
              </a:lnSpc>
              <a:buNone/>
            </a:pPr>
            <a:r>
              <a:rPr lang="en-US" sz="1250" dirty="0">
                <a:solidFill>
                  <a:srgbClr val="4456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סל"ד, מהירות, טמפרטורת נוזל קירור, עומס מנוע ומפלס דלק, נדגמים פעם בשנייה מהמתאם‏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1691640"/>
            <a:ext cx="5440680" cy="1417320"/>
          </a:xfrm>
          <a:prstGeom prst="roundRect">
            <a:avLst>
              <a:gd name="adj" fmla="val 7742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  <a:effectLst>
            <a:outerShdw blurRad="101600" dist="25400" dir="5400000" algn="bl" rotWithShape="0">
              <a:srgbClr val="9AA9B5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5303520" y="1947672"/>
            <a:ext cx="411480" cy="411480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 txBox="1"/>
          <p:nvPr/>
        </p:nvSpPr>
        <p:spPr>
          <a:xfrm>
            <a:off x="5303520" y="194767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185623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סריקת תקלות‏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2258568"/>
            <a:ext cx="4892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lnSpc>
                <a:spcPts val="2000"/>
              </a:lnSpc>
              <a:buNone/>
            </a:pPr>
            <a:r>
              <a:rPr lang="en-US" sz="1250" dirty="0">
                <a:solidFill>
                  <a:srgbClr val="4456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קוראת כל קוד פעיל ומתרגמת אותו לחומרה, הסבר, מה לעשות וטווח מחיר בשקלים‏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199632" y="3291840"/>
            <a:ext cx="5440680" cy="1417320"/>
          </a:xfrm>
          <a:prstGeom prst="roundRect">
            <a:avLst>
              <a:gd name="adj" fmla="val 7742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  <a:effectLst>
            <a:outerShdw blurRad="101600" dist="25400" dir="5400000" algn="bl" rotWithShape="0">
              <a:srgbClr val="9AA9B5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10954512" y="3547872"/>
            <a:ext cx="411480" cy="411480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 txBox="1"/>
          <p:nvPr/>
        </p:nvSpPr>
        <p:spPr>
          <a:xfrm>
            <a:off x="10954512" y="354787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428232" y="345643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גיבוי מבוסס ‏AI‏‏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428232" y="3858768"/>
            <a:ext cx="4892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lnSpc>
                <a:spcPts val="2000"/>
              </a:lnSpc>
              <a:buNone/>
            </a:pPr>
            <a:r>
              <a:rPr lang="en-US" sz="1250" dirty="0">
                <a:solidFill>
                  <a:srgbClr val="4456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קודים ייחודיים ליצרן מגיעים לאלפים, ולכן מה שמחוץ למילון מוסבר ע"י ‏Gemini‏, נשמר במטמון ומסומן‏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3291840"/>
            <a:ext cx="5440680" cy="1417320"/>
          </a:xfrm>
          <a:prstGeom prst="roundRect">
            <a:avLst>
              <a:gd name="adj" fmla="val 7742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  <a:effectLst>
            <a:outerShdw blurRad="101600" dist="25400" dir="5400000" algn="bl" rotWithShape="0">
              <a:srgbClr val="9AA9B5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5303520" y="3547872"/>
            <a:ext cx="411480" cy="411480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 txBox="1"/>
          <p:nvPr/>
        </p:nvSpPr>
        <p:spPr>
          <a:xfrm>
            <a:off x="5303520" y="354787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777240" y="345643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היסטוריית תקלות‏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777240" y="3858768"/>
            <a:ext cx="4892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lnSpc>
                <a:spcPts val="2000"/>
              </a:lnSpc>
              <a:buNone/>
            </a:pPr>
            <a:r>
              <a:rPr lang="en-US" sz="1250" dirty="0">
                <a:solidFill>
                  <a:srgbClr val="4456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סריקה נרשמת, עם דדופליקציה לרשומה אחת לקוד ליום כדי שתקלה מתמשכת לא תיספר שוב ושוב‏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8010144" y="4937760"/>
            <a:ext cx="3630168" cy="960120"/>
          </a:xfrm>
          <a:prstGeom prst="roundRect">
            <a:avLst>
              <a:gd name="adj" fmla="val 11429"/>
            </a:avLst>
          </a:prstGeom>
          <a:solidFill>
            <a:srgbClr val="16222E"/>
          </a:solidFill>
          <a:ln w="12700">
            <a:solidFill>
              <a:srgbClr val="1622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 txBox="1"/>
          <p:nvPr/>
        </p:nvSpPr>
        <p:spPr>
          <a:xfrm>
            <a:off x="10497312" y="4937760"/>
            <a:ext cx="914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</a:t>
            </a:r>
            <a:endParaRPr lang="en-US" sz="3000" dirty="0"/>
          </a:p>
        </p:txBody>
      </p:sp>
      <p:sp>
        <p:nvSpPr>
          <p:cNvPr id="26" name="Text 24"/>
          <p:cNvSpPr txBox="1"/>
          <p:nvPr/>
        </p:nvSpPr>
        <p:spPr>
          <a:xfrm>
            <a:off x="8238744" y="4937760"/>
            <a:ext cx="221284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קודים במילון המתורגם‏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4279392" y="4937760"/>
            <a:ext cx="3630168" cy="960120"/>
          </a:xfrm>
          <a:prstGeom prst="roundRect">
            <a:avLst>
              <a:gd name="adj" fmla="val 11429"/>
            </a:avLst>
          </a:prstGeom>
          <a:solidFill>
            <a:srgbClr val="16222E"/>
          </a:solidFill>
          <a:ln w="12700">
            <a:solidFill>
              <a:srgbClr val="1622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 txBox="1"/>
          <p:nvPr/>
        </p:nvSpPr>
        <p:spPr>
          <a:xfrm>
            <a:off x="6766560" y="4937760"/>
            <a:ext cx="914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3000" dirty="0"/>
          </a:p>
        </p:txBody>
      </p:sp>
      <p:sp>
        <p:nvSpPr>
          <p:cNvPr id="29" name="Text 27"/>
          <p:cNvSpPr txBox="1"/>
          <p:nvPr/>
        </p:nvSpPr>
        <p:spPr>
          <a:xfrm>
            <a:off x="4507992" y="4937760"/>
            <a:ext cx="221284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רמות חומרה‏</a:t>
            </a:r>
            <a:endParaRPr lang="en-US" sz="1350" dirty="0"/>
          </a:p>
        </p:txBody>
      </p:sp>
      <p:sp>
        <p:nvSpPr>
          <p:cNvPr id="30" name="Shape 28"/>
          <p:cNvSpPr/>
          <p:nvPr/>
        </p:nvSpPr>
        <p:spPr>
          <a:xfrm>
            <a:off x="548640" y="4937760"/>
            <a:ext cx="3630168" cy="960120"/>
          </a:xfrm>
          <a:prstGeom prst="roundRect">
            <a:avLst>
              <a:gd name="adj" fmla="val 11429"/>
            </a:avLst>
          </a:prstGeom>
          <a:solidFill>
            <a:srgbClr val="16222E"/>
          </a:solidFill>
          <a:ln w="12700">
            <a:solidFill>
              <a:srgbClr val="1622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 txBox="1"/>
          <p:nvPr/>
        </p:nvSpPr>
        <p:spPr>
          <a:xfrm>
            <a:off x="3035808" y="4937760"/>
            <a:ext cx="914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₪</a:t>
            </a:r>
            <a:endParaRPr lang="en-US" sz="3000" dirty="0"/>
          </a:p>
        </p:txBody>
      </p:sp>
      <p:sp>
        <p:nvSpPr>
          <p:cNvPr id="32" name="Text 30"/>
          <p:cNvSpPr txBox="1"/>
          <p:nvPr/>
        </p:nvSpPr>
        <p:spPr>
          <a:xfrm>
            <a:off x="777240" y="4937760"/>
            <a:ext cx="221284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טווח מחיר לכל תקלה‏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1672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r" rtl="1">
              <a:buNone/>
            </a:pPr>
            <a:r>
              <a:rPr lang="en-US" sz="1200" b="1" kern="0" spc="100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מהאפליקציה‏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1672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r" rtl="1">
              <a:buNone/>
            </a:pPr>
            <a:r>
              <a:rPr lang="en-US" sz="36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כך נראית סריקה אמיתית‏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7724284" y="1522476"/>
            <a:ext cx="1723424" cy="3529584"/>
          </a:xfrm>
          <a:prstGeom prst="roundRect">
            <a:avLst>
              <a:gd name="adj" fmla="val 5306"/>
            </a:avLst>
          </a:prstGeom>
          <a:solidFill>
            <a:srgbClr val="16222E"/>
          </a:solidFill>
          <a:ln w="12700">
            <a:solidFill>
              <a:srgbClr val="16222E"/>
            </a:solidFill>
            <a:prstDash val="solid"/>
          </a:ln>
          <a:effectLst>
            <a:outerShdw blurRad="127000" dist="38100" dir="5400000" algn="bl" rotWithShape="0">
              <a:srgbClr val="8A99A6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5" name="Image 0" descr="Z:\Users\12orb\AppData\Local\Temp\claude\Z--Users-12orb-Desktop-Rupin-AiProjectSpamDetection-EndOfYearCarProject\bc12164c-9673-4caf-a51e-0823e450bec0\scratchpad\shots_trimmed\03-li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4576" y="1572768"/>
            <a:ext cx="1622840" cy="34290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374416" y="5148072"/>
            <a:ext cx="2423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 rtl="1">
              <a:buNone/>
            </a:pPr>
            <a:r>
              <a:rPr lang="en-US" sz="145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נתונים חיים‏</a:t>
            </a:r>
            <a:endParaRPr lang="en-US" sz="1450" dirty="0"/>
          </a:p>
        </p:txBody>
      </p:sp>
      <p:sp>
        <p:nvSpPr>
          <p:cNvPr id="7" name="Text 4"/>
          <p:cNvSpPr txBox="1"/>
          <p:nvPr/>
        </p:nvSpPr>
        <p:spPr>
          <a:xfrm>
            <a:off x="7374416" y="5477256"/>
            <a:ext cx="2423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 rtl="1">
              <a:lnSpc>
                <a:spcPts val="1600"/>
              </a:lnSpc>
              <a:buNone/>
            </a:pPr>
            <a:r>
              <a:rPr lang="en-US" sz="1100" dirty="0">
                <a:solidFill>
                  <a:srgbClr val="6B7A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סל"ד, מהירות, טמפרטורה ומפלס דלק, פעם בשנייה‏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5232764" y="1522476"/>
            <a:ext cx="1723424" cy="3529584"/>
          </a:xfrm>
          <a:prstGeom prst="roundRect">
            <a:avLst>
              <a:gd name="adj" fmla="val 5306"/>
            </a:avLst>
          </a:prstGeom>
          <a:solidFill>
            <a:srgbClr val="16222E"/>
          </a:solidFill>
          <a:ln w="12700">
            <a:solidFill>
              <a:srgbClr val="16222E"/>
            </a:solidFill>
            <a:prstDash val="solid"/>
          </a:ln>
          <a:effectLst>
            <a:outerShdw blurRad="127000" dist="38100" dir="5400000" algn="bl" rotWithShape="0">
              <a:srgbClr val="8A99A6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9" name="Image 1" descr="Z:\Users\12orb\AppData\Local\Temp\claude\Z--Users-12orb-Desktop-Rupin-AiProjectSpamDetection-EndOfYearCarProject\bc12164c-9673-4caf-a51e-0823e450bec0\scratchpad\shots_trimmed\06-scan-fault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83056" y="1572768"/>
            <a:ext cx="1622840" cy="342900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882896" y="5148072"/>
            <a:ext cx="2423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 rtl="1">
              <a:buNone/>
            </a:pPr>
            <a:r>
              <a:rPr lang="en-US" sz="145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תוצאות הסריקה‏</a:t>
            </a:r>
            <a:endParaRPr lang="en-US" sz="1450" dirty="0"/>
          </a:p>
        </p:txBody>
      </p:sp>
      <p:sp>
        <p:nvSpPr>
          <p:cNvPr id="11" name="Text 7"/>
          <p:cNvSpPr txBox="1"/>
          <p:nvPr/>
        </p:nvSpPr>
        <p:spPr>
          <a:xfrm>
            <a:off x="4882896" y="5477256"/>
            <a:ext cx="2423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 rtl="1">
              <a:lnSpc>
                <a:spcPts val="1600"/>
              </a:lnSpc>
              <a:buNone/>
            </a:pPr>
            <a:r>
              <a:rPr lang="en-US" sz="1100" dirty="0">
                <a:solidFill>
                  <a:srgbClr val="6B7A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שלוש תקלות, כולל קוד שלא במילון שיוסבר ע"י ‏AI‏‏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2741245" y="1522476"/>
            <a:ext cx="1723424" cy="3529584"/>
          </a:xfrm>
          <a:prstGeom prst="roundRect">
            <a:avLst>
              <a:gd name="adj" fmla="val 5306"/>
            </a:avLst>
          </a:prstGeom>
          <a:solidFill>
            <a:srgbClr val="16222E"/>
          </a:solidFill>
          <a:ln w="12700">
            <a:solidFill>
              <a:srgbClr val="16222E"/>
            </a:solidFill>
            <a:prstDash val="solid"/>
          </a:ln>
          <a:effectLst>
            <a:outerShdw blurRad="127000" dist="38100" dir="5400000" algn="bl" rotWithShape="0">
              <a:srgbClr val="8A99A6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3" name="Image 2" descr="Z:\Users\12orb\AppData\Local\Temp\claude\Z--Users-12orb-Desktop-Rupin-AiProjectSpamDetection-EndOfYearCarProject\bc12164c-9673-4caf-a51e-0823e450bec0\scratchpad\shots_trimmed\08-fault-detai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91537" y="1572768"/>
            <a:ext cx="1622840" cy="342900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2391376" y="5148072"/>
            <a:ext cx="2423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 rtl="1">
              <a:buNone/>
            </a:pPr>
            <a:r>
              <a:rPr lang="en-US" sz="145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פירוט התקלה‏</a:t>
            </a:r>
            <a:endParaRPr lang="en-US" sz="1450" dirty="0"/>
          </a:p>
        </p:txBody>
      </p:sp>
      <p:sp>
        <p:nvSpPr>
          <p:cNvPr id="15" name="Text 10"/>
          <p:cNvSpPr txBox="1"/>
          <p:nvPr/>
        </p:nvSpPr>
        <p:spPr>
          <a:xfrm>
            <a:off x="2391376" y="5477256"/>
            <a:ext cx="2423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 rtl="1">
              <a:lnSpc>
                <a:spcPts val="1600"/>
              </a:lnSpc>
              <a:buNone/>
            </a:pPr>
            <a:r>
              <a:rPr lang="en-US" sz="1100" dirty="0">
                <a:solidFill>
                  <a:srgbClr val="6B7A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הסבר, מה לעשות, וטווח מחיר בשקלים‏</a:t>
            </a:r>
            <a:endParaRPr lang="en-US" sz="1100" dirty="0"/>
          </a:p>
        </p:txBody>
      </p:sp>
      <p:sp>
        <p:nvSpPr>
          <p:cNvPr id="16" name="Text 11"/>
          <p:cNvSpPr txBox="1"/>
          <p:nvPr/>
        </p:nvSpPr>
        <p:spPr>
          <a:xfrm>
            <a:off x="548640" y="6355080"/>
            <a:ext cx="11091672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r" rtl="1">
              <a:buNone/>
            </a:pPr>
            <a:r>
              <a:rPr lang="en-US" sz="1150" dirty="0">
                <a:solidFill>
                  <a:srgbClr val="6B7A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צולם מהאפליקציה הרצה על אמולטור אנדרואיד, במצב הדגמה שמדמה את מתאם ה-‏ESP32.‏‏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1672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r" rtl="1">
              <a:buNone/>
            </a:pPr>
            <a:r>
              <a:rPr lang="en-US" sz="1200" b="1" kern="0" spc="100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יכולות · דלק‏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1672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r" rtl="1">
              <a:buNone/>
            </a:pPr>
            <a:r>
              <a:rPr lang="en-US" sz="36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דלק, עלויות ותכנון נסיעה‏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6199632" y="1645920"/>
            <a:ext cx="5440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buNone/>
            </a:pPr>
            <a:r>
              <a:rPr lang="en-US" sz="2000" b="1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צריכה ועלויות‏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199632" y="2148840"/>
            <a:ext cx="5440680" cy="1207008"/>
          </a:xfrm>
          <a:prstGeom prst="roundRect">
            <a:avLst>
              <a:gd name="adj" fmla="val 9091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  <a:effectLst>
            <a:outerShdw blurRad="101600" dist="25400" dir="5400000" algn="bl" rotWithShape="0">
              <a:srgbClr val="9AA9B5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 txBox="1"/>
          <p:nvPr/>
        </p:nvSpPr>
        <p:spPr>
          <a:xfrm>
            <a:off x="6428232" y="2286000"/>
            <a:ext cx="4983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buNone/>
            </a:pPr>
            <a:r>
              <a:rPr lang="en-US" sz="15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מעקב צריכה‏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28232" y="2624328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lnSpc>
                <a:spcPts val="2000"/>
              </a:lnSpc>
              <a:buNone/>
            </a:pPr>
            <a:r>
              <a:rPr lang="en-US" sz="1250" dirty="0">
                <a:solidFill>
                  <a:srgbClr val="4456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רישום תדלוקים ומדידת ליטר/‏100‏ ק"מ אמיתית, במקום נתון המעבדה של היצרן‏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199632" y="3447288"/>
            <a:ext cx="5440680" cy="1207008"/>
          </a:xfrm>
          <a:prstGeom prst="roundRect">
            <a:avLst>
              <a:gd name="adj" fmla="val 9091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  <a:effectLst>
            <a:outerShdw blurRad="101600" dist="25400" dir="5400000" algn="bl" rotWithShape="0">
              <a:srgbClr val="9AA9B5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 txBox="1"/>
          <p:nvPr/>
        </p:nvSpPr>
        <p:spPr>
          <a:xfrm>
            <a:off x="6428232" y="3584448"/>
            <a:ext cx="4983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buNone/>
            </a:pPr>
            <a:r>
              <a:rPr lang="en-US" sz="15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עלויות שוטפות‏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428232" y="3922776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lnSpc>
                <a:spcPts val="2000"/>
              </a:lnSpc>
              <a:buNone/>
            </a:pPr>
            <a:r>
              <a:rPr lang="en-US" sz="1250" dirty="0">
                <a:solidFill>
                  <a:srgbClr val="4456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עלות ל-‏100‏ ק"מ משוקללת לפי מרחק, הוצאה החודש והשנה, והשינוי מול החודש הקודם‏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199632" y="4745736"/>
            <a:ext cx="5440680" cy="1207008"/>
          </a:xfrm>
          <a:prstGeom prst="roundRect">
            <a:avLst>
              <a:gd name="adj" fmla="val 9091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  <a:effectLst>
            <a:outerShdw blurRad="101600" dist="25400" dir="5400000" algn="bl" rotWithShape="0">
              <a:srgbClr val="9AA9B5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 txBox="1"/>
          <p:nvPr/>
        </p:nvSpPr>
        <p:spPr>
          <a:xfrm>
            <a:off x="6428232" y="4882896"/>
            <a:ext cx="4983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buNone/>
            </a:pPr>
            <a:r>
              <a:rPr lang="en-US" sz="15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עלות מילוי מיכל‏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428232" y="5221224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lnSpc>
                <a:spcPts val="2000"/>
              </a:lnSpc>
              <a:buNone/>
            </a:pPr>
            <a:r>
              <a:rPr lang="en-US" sz="1250" dirty="0">
                <a:solidFill>
                  <a:srgbClr val="4456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כמה עולה מיכל מלא במחיר המשאבה של היום, לפי ‏95 / 98‏ / סולר‏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1645920"/>
            <a:ext cx="5440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buNone/>
            </a:pPr>
            <a:r>
              <a:rPr lang="en-US" sz="2000" b="1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תכנון נסיעה‏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548640" y="2148840"/>
            <a:ext cx="5440680" cy="1207008"/>
          </a:xfrm>
          <a:prstGeom prst="roundRect">
            <a:avLst>
              <a:gd name="adj" fmla="val 9091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  <a:effectLst>
            <a:outerShdw blurRad="101600" dist="25400" dir="5400000" algn="bl" rotWithShape="0">
              <a:srgbClr val="9AA9B5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 txBox="1"/>
          <p:nvPr/>
        </p:nvSpPr>
        <p:spPr>
          <a:xfrm>
            <a:off x="777240" y="2286000"/>
            <a:ext cx="4983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buNone/>
            </a:pPr>
            <a:r>
              <a:rPr lang="en-US" sz="15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מרחק ותנועה חיה‏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2624328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lnSpc>
                <a:spcPts val="2000"/>
              </a:lnSpc>
              <a:buNone/>
            </a:pPr>
            <a:r>
              <a:rPr lang="en-US" sz="1250" dirty="0">
                <a:solidFill>
                  <a:srgbClr val="4456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מרחק המסלול וזמן הנסיעה מגיעים מ-‏Google Directions‏ בזמן אמת‏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48640" y="3447288"/>
            <a:ext cx="5440680" cy="1207008"/>
          </a:xfrm>
          <a:prstGeom prst="roundRect">
            <a:avLst>
              <a:gd name="adj" fmla="val 9091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  <a:effectLst>
            <a:outerShdw blurRad="101600" dist="25400" dir="5400000" algn="bl" rotWithShape="0">
              <a:srgbClr val="9AA9B5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 txBox="1"/>
          <p:nvPr/>
        </p:nvSpPr>
        <p:spPr>
          <a:xfrm>
            <a:off x="777240" y="3584448"/>
            <a:ext cx="4983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buNone/>
            </a:pPr>
            <a:r>
              <a:rPr lang="en-US" sz="15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הערכת דלק לא-לינארית‏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3922776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lnSpc>
                <a:spcPts val="2000"/>
              </a:lnSpc>
              <a:buNone/>
            </a:pPr>
            <a:r>
              <a:rPr lang="en-US" sz="1250" dirty="0">
                <a:solidFill>
                  <a:srgbClr val="4456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עמידה בפקק שורפת הרבה פחות מנסיעה, ולכן קנס העיכוב מוחל בחצי ולא במלואו‏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48640" y="4745736"/>
            <a:ext cx="5440680" cy="1207008"/>
          </a:xfrm>
          <a:prstGeom prst="roundRect">
            <a:avLst>
              <a:gd name="adj" fmla="val 9091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  <a:effectLst>
            <a:outerShdw blurRad="101600" dist="25400" dir="5400000" algn="bl" rotWithShape="0">
              <a:srgbClr val="9AA9B5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 txBox="1"/>
          <p:nvPr/>
        </p:nvSpPr>
        <p:spPr>
          <a:xfrm>
            <a:off x="777240" y="4882896"/>
            <a:ext cx="4983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buNone/>
            </a:pPr>
            <a:r>
              <a:rPr lang="en-US" sz="15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"האם אגיע?"‏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777240" y="5221224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lnSpc>
                <a:spcPts val="2000"/>
              </a:lnSpc>
              <a:buNone/>
            </a:pPr>
            <a:r>
              <a:rPr lang="en-US" sz="1250" dirty="0">
                <a:solidFill>
                  <a:srgbClr val="4456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משווה דלק במיכל מול הנסיעה, ואם חסר, אומר כמה ליטרים וכמה שקלים‏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6080760"/>
            <a:ext cx="11091672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r" rtl="1">
              <a:buNone/>
            </a:pPr>
            <a:r>
              <a:rPr lang="en-US" sz="1150" dirty="0">
                <a:solidFill>
                  <a:srgbClr val="6B7A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רק בנזין ‏95‏ מפוקח בישראל, ולכן ‏98‏ וסולר מוצגים כמחיר אופייני. "האם אגיע?" מוצג רק כשהרכב דיווח בעצמו על מפלס הדלק.‏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1672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r" rtl="1">
              <a:buNone/>
            </a:pPr>
            <a:r>
              <a:rPr lang="en-US" sz="1200" b="1" kern="0" spc="100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מהאפליקציה‏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1672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r" rtl="1">
              <a:buNone/>
            </a:pPr>
            <a:r>
              <a:rPr lang="en-US" sz="36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המוסך, הדלק והנסיעה‏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7724284" y="1522476"/>
            <a:ext cx="1723424" cy="3529584"/>
          </a:xfrm>
          <a:prstGeom prst="roundRect">
            <a:avLst>
              <a:gd name="adj" fmla="val 5306"/>
            </a:avLst>
          </a:prstGeom>
          <a:solidFill>
            <a:srgbClr val="16222E"/>
          </a:solidFill>
          <a:ln w="12700">
            <a:solidFill>
              <a:srgbClr val="16222E"/>
            </a:solidFill>
            <a:prstDash val="solid"/>
          </a:ln>
          <a:effectLst>
            <a:outerShdw blurRad="127000" dist="38100" dir="5400000" algn="bl" rotWithShape="0">
              <a:srgbClr val="8A99A6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5" name="Image 0" descr="Z:\Users\12orb\AppData\Local\Temp\claude\Z--Users-12orb-Desktop-Rupin-AiProjectSpamDetection-EndOfYearCarProject\bc12164c-9673-4caf-a51e-0823e450bec0\scratchpad\shots_trimmed\01-gar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4576" y="1572768"/>
            <a:ext cx="1622840" cy="34290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374416" y="5148072"/>
            <a:ext cx="2423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 rtl="1">
              <a:buNone/>
            </a:pPr>
            <a:r>
              <a:rPr lang="en-US" sz="145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מסך הבית‏</a:t>
            </a:r>
            <a:endParaRPr lang="en-US" sz="1450" dirty="0"/>
          </a:p>
        </p:txBody>
      </p:sp>
      <p:sp>
        <p:nvSpPr>
          <p:cNvPr id="7" name="Text 4"/>
          <p:cNvSpPr txBox="1"/>
          <p:nvPr/>
        </p:nvSpPr>
        <p:spPr>
          <a:xfrm>
            <a:off x="7374416" y="5477256"/>
            <a:ext cx="2423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 rtl="1">
              <a:lnSpc>
                <a:spcPts val="1600"/>
              </a:lnSpc>
              <a:buNone/>
            </a:pPr>
            <a:r>
              <a:rPr lang="en-US" sz="1100" dirty="0">
                <a:solidFill>
                  <a:srgbClr val="6B7A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הרכב, מצב בריאות, צריכה ממוצעת וספירת תקלות‏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5232764" y="1522476"/>
            <a:ext cx="1723424" cy="3529584"/>
          </a:xfrm>
          <a:prstGeom prst="roundRect">
            <a:avLst>
              <a:gd name="adj" fmla="val 5306"/>
            </a:avLst>
          </a:prstGeom>
          <a:solidFill>
            <a:srgbClr val="16222E"/>
          </a:solidFill>
          <a:ln w="12700">
            <a:solidFill>
              <a:srgbClr val="16222E"/>
            </a:solidFill>
            <a:prstDash val="solid"/>
          </a:ln>
          <a:effectLst>
            <a:outerShdw blurRad="127000" dist="38100" dir="5400000" algn="bl" rotWithShape="0">
              <a:srgbClr val="8A99A6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9" name="Image 1" descr="Z:\Users\12orb\AppData\Local\Temp\claude\Z--Users-12orb-Desktop-Rupin-AiProjectSpamDetection-EndOfYearCarProject\bc12164c-9673-4caf-a51e-0823e450bec0\scratchpad\shots_trimmed\09-fue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83056" y="1572768"/>
            <a:ext cx="1622840" cy="342900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882896" y="5148072"/>
            <a:ext cx="2423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 rtl="1">
              <a:buNone/>
            </a:pPr>
            <a:r>
              <a:rPr lang="en-US" sz="145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מעקב דלק‏</a:t>
            </a:r>
            <a:endParaRPr lang="en-US" sz="1450" dirty="0"/>
          </a:p>
        </p:txBody>
      </p:sp>
      <p:sp>
        <p:nvSpPr>
          <p:cNvPr id="11" name="Text 7"/>
          <p:cNvSpPr txBox="1"/>
          <p:nvPr/>
        </p:nvSpPr>
        <p:spPr>
          <a:xfrm>
            <a:off x="4882896" y="5477256"/>
            <a:ext cx="2423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 rtl="1">
              <a:lnSpc>
                <a:spcPts val="1600"/>
              </a:lnSpc>
              <a:buNone/>
            </a:pPr>
            <a:r>
              <a:rPr lang="en-US" sz="1100" dirty="0">
                <a:solidFill>
                  <a:srgbClr val="6B7A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צריכה אמיתית, עלויות שוטפות ועלות מילוי מיכל‏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2741245" y="1522476"/>
            <a:ext cx="1723424" cy="3529584"/>
          </a:xfrm>
          <a:prstGeom prst="roundRect">
            <a:avLst>
              <a:gd name="adj" fmla="val 5306"/>
            </a:avLst>
          </a:prstGeom>
          <a:solidFill>
            <a:srgbClr val="16222E"/>
          </a:solidFill>
          <a:ln w="12700">
            <a:solidFill>
              <a:srgbClr val="16222E"/>
            </a:solidFill>
            <a:prstDash val="solid"/>
          </a:ln>
          <a:effectLst>
            <a:outerShdw blurRad="127000" dist="38100" dir="5400000" algn="bl" rotWithShape="0">
              <a:srgbClr val="8A99A6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3" name="Image 2" descr="Z:\Users\12orb\AppData\Local\Temp\claude\Z--Users-12orb-Desktop-Rupin-AiProjectSpamDetection-EndOfYearCarProject\bc12164c-9673-4caf-a51e-0823e450bec0\scratchpad\shots_trimmed\13-tri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91537" y="1572768"/>
            <a:ext cx="1622840" cy="342900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2391376" y="5148072"/>
            <a:ext cx="2423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 rtl="1">
              <a:buNone/>
            </a:pPr>
            <a:r>
              <a:rPr lang="en-US" sz="145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מתכנן נסיעה‏</a:t>
            </a:r>
            <a:endParaRPr lang="en-US" sz="1450" dirty="0"/>
          </a:p>
        </p:txBody>
      </p:sp>
      <p:sp>
        <p:nvSpPr>
          <p:cNvPr id="15" name="Text 10"/>
          <p:cNvSpPr txBox="1"/>
          <p:nvPr/>
        </p:nvSpPr>
        <p:spPr>
          <a:xfrm>
            <a:off x="2391376" y="5477256"/>
            <a:ext cx="2423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 rtl="1">
              <a:lnSpc>
                <a:spcPts val="1600"/>
              </a:lnSpc>
              <a:buNone/>
            </a:pPr>
            <a:r>
              <a:rPr lang="en-US" sz="1100" dirty="0">
                <a:solidFill>
                  <a:srgbClr val="6B7A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מרחק, תנועה חיה, וכמה דלק באמת צריך‏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1672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r" rtl="1">
              <a:buNone/>
            </a:pPr>
            <a:r>
              <a:rPr lang="en-US" sz="1200" b="1" kern="0" spc="100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יכולות · מיקום‏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1672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r" rtl="1">
              <a:buNone/>
            </a:pPr>
            <a:r>
              <a:rPr lang="en-US" sz="36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מוסכים בסביבה, ותזכורת שמצילה חיים‏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199632" y="1691640"/>
            <a:ext cx="5440680" cy="274320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  <a:effectLst>
            <a:outerShdw blurRad="101600" dist="25400" dir="5400000" algn="bl" rotWithShape="0">
              <a:srgbClr val="9AA9B5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0725912" y="1965960"/>
            <a:ext cx="548640" cy="548640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 txBox="1"/>
          <p:nvPr/>
        </p:nvSpPr>
        <p:spPr>
          <a:xfrm>
            <a:off x="10725912" y="19659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◎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428232" y="201168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buNone/>
            </a:pPr>
            <a:r>
              <a:rPr lang="en-US" sz="20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מוצא מוסכים‏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6428232" y="2560320"/>
            <a:ext cx="4983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lnSpc>
                <a:spcPts val="2600"/>
              </a:lnSpc>
              <a:buNone/>
            </a:pPr>
            <a:r>
              <a:rPr lang="en-US" sz="1350" dirty="0">
                <a:solidFill>
                  <a:srgbClr val="4456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 תוצאות חיות מ-‏Google Places‏, ממוינות לפי קרבה</a:t>
            </a:r>
            <a:endParaRPr lang="en-US" sz="1350" dirty="0"/>
          </a:p>
          <a:p>
            <a:pPr marL="0" indent="0" algn="r" rtl="1">
              <a:lnSpc>
                <a:spcPts val="2600"/>
              </a:lnSpc>
              <a:buNone/>
            </a:pPr>
            <a:r>
              <a:rPr lang="en-US" sz="1350" dirty="0">
                <a:solidFill>
                  <a:srgbClr val="4456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 דירוגים אמיתיים ושמות בעברית</a:t>
            </a:r>
            <a:endParaRPr lang="en-US" sz="1350" dirty="0"/>
          </a:p>
          <a:p>
            <a:pPr marL="0" indent="0" algn="r" rtl="1">
              <a:lnSpc>
                <a:spcPts val="2600"/>
              </a:lnSpc>
              <a:buNone/>
            </a:pPr>
            <a:r>
              <a:rPr lang="en-US" sz="1350" dirty="0">
                <a:solidFill>
                  <a:srgbClr val="4456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 מרחק אווירי, מספיק כדי לדרג. הניווט עצמו עובר ל-‏Google‏</a:t>
            </a:r>
            <a:endParaRPr lang="en-US" sz="1350" dirty="0"/>
          </a:p>
          <a:p>
            <a:pPr marL="0" indent="0" algn="r" rtl="1">
              <a:lnSpc>
                <a:spcPts val="2600"/>
              </a:lnSpc>
              <a:buNone/>
            </a:pPr>
            <a:r>
              <a:rPr lang="en-US" sz="1350" dirty="0">
                <a:solidFill>
                  <a:srgbClr val="4456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 חיוג למוסך בלחיצה אחת‏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48640" y="1691640"/>
            <a:ext cx="5440680" cy="2743200"/>
          </a:xfrm>
          <a:prstGeom prst="roundRect">
            <a:avLst>
              <a:gd name="adj" fmla="val 4000"/>
            </a:avLst>
          </a:prstGeom>
          <a:solidFill>
            <a:srgbClr val="16222E"/>
          </a:solidFill>
          <a:ln w="12700">
            <a:solidFill>
              <a:srgbClr val="16222E"/>
            </a:solidFill>
            <a:prstDash val="solid"/>
          </a:ln>
          <a:effectLst>
            <a:outerShdw blurRad="101600" dist="25400" dir="5400000" algn="bl" rotWithShape="0">
              <a:srgbClr val="9AA9B5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5074920" y="1965960"/>
            <a:ext cx="548640" cy="548640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 txBox="1"/>
          <p:nvPr/>
        </p:nvSpPr>
        <p:spPr>
          <a:xfrm>
            <a:off x="5074920" y="19659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◐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201168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תזכורת בטיחות ילדים‏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2560320"/>
            <a:ext cx="4983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lnSpc>
                <a:spcPts val="2600"/>
              </a:lnSpc>
              <a:buNone/>
            </a:pPr>
            <a:r>
              <a:rPr lang="en-US" sz="1350" dirty="0">
                <a:solidFill>
                  <a:srgbClr val="C6D2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 גדר וירטואלית ברדיוס ‏150‏ מטר סביב הבית</a:t>
            </a:r>
            <a:endParaRPr lang="en-US" sz="1350" dirty="0"/>
          </a:p>
          <a:p>
            <a:pPr marL="0" indent="0" algn="r" rtl="1">
              <a:lnSpc>
                <a:spcPts val="2600"/>
              </a:lnSpc>
              <a:buNone/>
            </a:pPr>
            <a:r>
              <a:rPr lang="en-US" sz="1350" dirty="0">
                <a:solidFill>
                  <a:srgbClr val="C6D2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 הגעה מפעילה התראה: בדוק את המושב האחורי</a:t>
            </a:r>
            <a:endParaRPr lang="en-US" sz="1350" dirty="0"/>
          </a:p>
          <a:p>
            <a:pPr marL="0" indent="0" algn="r" rtl="1">
              <a:lnSpc>
                <a:spcPts val="2600"/>
              </a:lnSpc>
              <a:buNone/>
            </a:pPr>
            <a:r>
              <a:rPr lang="en-US" sz="1350" dirty="0">
                <a:solidFill>
                  <a:srgbClr val="C6D2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 מערכת ההפעלה מנטרת, לא האפליקציה, ולכן היא יכולה להיות סגורה</a:t>
            </a:r>
            <a:endParaRPr lang="en-US" sz="1350" dirty="0"/>
          </a:p>
          <a:p>
            <a:pPr marL="0" indent="0" algn="r" rtl="1">
              <a:lnSpc>
                <a:spcPts val="2600"/>
              </a:lnSpc>
              <a:buNone/>
            </a:pPr>
            <a:r>
              <a:rPr lang="en-US" sz="1350" dirty="0">
                <a:solidFill>
                  <a:srgbClr val="C6D2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 כתובת הבית נשמרת רק על המכשיר‏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548640" y="4754880"/>
            <a:ext cx="11091672" cy="1005840"/>
          </a:xfrm>
          <a:prstGeom prst="roundRect">
            <a:avLst>
              <a:gd name="adj" fmla="val 10909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  <a:effectLst>
            <a:outerShdw blurRad="101600" dist="25400" dir="5400000" algn="bl" rotWithShape="0">
              <a:srgbClr val="9AA9B5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 txBox="1"/>
          <p:nvPr/>
        </p:nvSpPr>
        <p:spPr>
          <a:xfrm>
            <a:off x="868680" y="4754880"/>
            <a:ext cx="104515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50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אנדרואיד מסלימה ממיקום סלולרי זול ל-‏GPS‏ רק ליד הגבול, וזה מה שהופך את הגדר הווירטואלית לאפשרית מבחינת סוללה.‏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1672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r" rtl="1">
              <a:buNone/>
            </a:pPr>
            <a:r>
              <a:rPr lang="en-US" sz="1200" b="1" kern="0" spc="100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מהאפליקציה‏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1672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r" rtl="1">
              <a:buNone/>
            </a:pPr>
            <a:r>
              <a:rPr lang="en-US" sz="36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מוסכים, היסטוריה וחשבון‏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7724284" y="1522476"/>
            <a:ext cx="1723424" cy="3529584"/>
          </a:xfrm>
          <a:prstGeom prst="roundRect">
            <a:avLst>
              <a:gd name="adj" fmla="val 5306"/>
            </a:avLst>
          </a:prstGeom>
          <a:solidFill>
            <a:srgbClr val="16222E"/>
          </a:solidFill>
          <a:ln w="12700">
            <a:solidFill>
              <a:srgbClr val="16222E"/>
            </a:solidFill>
            <a:prstDash val="solid"/>
          </a:ln>
          <a:effectLst>
            <a:outerShdw blurRad="127000" dist="38100" dir="5400000" algn="bl" rotWithShape="0">
              <a:srgbClr val="8A99A6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5" name="Image 0" descr="Z:\Users\12orb\AppData\Local\Temp\claude\Z--Users-12orb-Desktop-Rupin-AiProjectSpamDetection-EndOfYearCarProject\bc12164c-9673-4caf-a51e-0823e450bec0\scratchpad\shots_trimmed\12-mechanic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4576" y="1572768"/>
            <a:ext cx="1622840" cy="34290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374416" y="5148072"/>
            <a:ext cx="2423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 rtl="1">
              <a:buNone/>
            </a:pPr>
            <a:r>
              <a:rPr lang="en-US" sz="145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מוצא מוסכים‏</a:t>
            </a:r>
            <a:endParaRPr lang="en-US" sz="1450" dirty="0"/>
          </a:p>
        </p:txBody>
      </p:sp>
      <p:sp>
        <p:nvSpPr>
          <p:cNvPr id="7" name="Text 4"/>
          <p:cNvSpPr txBox="1"/>
          <p:nvPr/>
        </p:nvSpPr>
        <p:spPr>
          <a:xfrm>
            <a:off x="7374416" y="5477256"/>
            <a:ext cx="2423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 rtl="1">
              <a:lnSpc>
                <a:spcPts val="1600"/>
              </a:lnSpc>
              <a:buNone/>
            </a:pPr>
            <a:r>
              <a:rPr lang="en-US" sz="1100" dirty="0">
                <a:solidFill>
                  <a:srgbClr val="6B7A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מפה ותוצאות חיות מ-‏Google Places‏‏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5232764" y="1522476"/>
            <a:ext cx="1723424" cy="3529584"/>
          </a:xfrm>
          <a:prstGeom prst="roundRect">
            <a:avLst>
              <a:gd name="adj" fmla="val 5306"/>
            </a:avLst>
          </a:prstGeom>
          <a:solidFill>
            <a:srgbClr val="16222E"/>
          </a:solidFill>
          <a:ln w="12700">
            <a:solidFill>
              <a:srgbClr val="16222E"/>
            </a:solidFill>
            <a:prstDash val="solid"/>
          </a:ln>
          <a:effectLst>
            <a:outerShdw blurRad="127000" dist="38100" dir="5400000" algn="bl" rotWithShape="0">
              <a:srgbClr val="8A99A6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9" name="Image 1" descr="Z:\Users\12orb\AppData\Local\Temp\claude\Z--Users-12orb-Desktop-Rupin-AiProjectSpamDetection-EndOfYearCarProject\bc12164c-9673-4caf-a51e-0823e450bec0\scratchpad\shots_trimmed\10-histo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83056" y="1572768"/>
            <a:ext cx="1622840" cy="342900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882896" y="5148072"/>
            <a:ext cx="2423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 rtl="1">
              <a:buNone/>
            </a:pPr>
            <a:r>
              <a:rPr lang="en-US" sz="145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היסטוריית תקלות‏</a:t>
            </a:r>
            <a:endParaRPr lang="en-US" sz="1450" dirty="0"/>
          </a:p>
        </p:txBody>
      </p:sp>
      <p:sp>
        <p:nvSpPr>
          <p:cNvPr id="11" name="Text 7"/>
          <p:cNvSpPr txBox="1"/>
          <p:nvPr/>
        </p:nvSpPr>
        <p:spPr>
          <a:xfrm>
            <a:off x="4882896" y="5477256"/>
            <a:ext cx="2423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 rtl="1">
              <a:lnSpc>
                <a:spcPts val="1600"/>
              </a:lnSpc>
              <a:buNone/>
            </a:pPr>
            <a:r>
              <a:rPr lang="en-US" sz="1100" dirty="0">
                <a:solidFill>
                  <a:srgbClr val="6B7A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סריקה נשמרת, עם דדופליקציה ליום‏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2741245" y="1522476"/>
            <a:ext cx="1723424" cy="3529584"/>
          </a:xfrm>
          <a:prstGeom prst="roundRect">
            <a:avLst>
              <a:gd name="adj" fmla="val 5306"/>
            </a:avLst>
          </a:prstGeom>
          <a:solidFill>
            <a:srgbClr val="16222E"/>
          </a:solidFill>
          <a:ln w="12700">
            <a:solidFill>
              <a:srgbClr val="16222E"/>
            </a:solidFill>
            <a:prstDash val="solid"/>
          </a:ln>
          <a:effectLst>
            <a:outerShdw blurRad="127000" dist="38100" dir="5400000" algn="bl" rotWithShape="0">
              <a:srgbClr val="8A99A6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3" name="Image 2" descr="Z:\Users\12orb\AppData\Local\Temp\claude\Z--Users-12orb-Desktop-Rupin-AiProjectSpamDetection-EndOfYearCarProject\bc12164c-9673-4caf-a51e-0823e450bec0\scratchpad\shots_trimmed\14-setting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91537" y="1572768"/>
            <a:ext cx="1622840" cy="342900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2391376" y="5148072"/>
            <a:ext cx="2423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 rtl="1">
              <a:buNone/>
            </a:pPr>
            <a:r>
              <a:rPr lang="en-US" sz="145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הגדרות‏</a:t>
            </a:r>
            <a:endParaRPr lang="en-US" sz="1450" dirty="0"/>
          </a:p>
        </p:txBody>
      </p:sp>
      <p:sp>
        <p:nvSpPr>
          <p:cNvPr id="15" name="Text 10"/>
          <p:cNvSpPr txBox="1"/>
          <p:nvPr/>
        </p:nvSpPr>
        <p:spPr>
          <a:xfrm>
            <a:off x="2391376" y="5477256"/>
            <a:ext cx="2423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 rtl="1">
              <a:lnSpc>
                <a:spcPts val="1600"/>
              </a:lnSpc>
              <a:buNone/>
            </a:pPr>
            <a:r>
              <a:rPr lang="en-US" sz="1100" dirty="0">
                <a:solidFill>
                  <a:srgbClr val="6B7A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מצב תצוגה, התראות סריקה ותזכורת בטיחות הילדים‏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1672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r" rtl="1">
              <a:buNone/>
            </a:pPr>
            <a:r>
              <a:rPr lang="en-US" sz="1200" b="1" kern="0" spc="100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אבטחה‏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1672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r" rtl="1">
              <a:buNone/>
            </a:pPr>
            <a:r>
              <a:rPr lang="en-US" sz="36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אבטחת מידע ופרטיות‏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  <a:effectLst>
            <a:outerShdw blurRad="101600" dist="25400" dir="5400000" algn="bl" rotWithShape="0">
              <a:srgbClr val="9AA9B5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0927080" y="1773936"/>
            <a:ext cx="521208" cy="521208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 txBox="1"/>
          <p:nvPr/>
        </p:nvSpPr>
        <p:spPr>
          <a:xfrm>
            <a:off x="10927080" y="1773936"/>
            <a:ext cx="521208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ס‏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348472" y="1600200"/>
            <a:ext cx="2468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סיסמאות‏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1600200"/>
            <a:ext cx="7772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50" dirty="0">
                <a:solidFill>
                  <a:srgbClr val="4456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מגובבות ב-‏BCrypt.‏ לא נשמרות ולא נרשמות ללוג בטקסט גלוי, ולא נחשפות בשום תשובת ‏API‏‏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256032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  <a:effectLst>
            <a:outerShdw blurRad="101600" dist="25400" dir="5400000" algn="bl" rotWithShape="0">
              <a:srgbClr val="9AA9B5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10927080" y="2734056"/>
            <a:ext cx="521208" cy="521208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 txBox="1"/>
          <p:nvPr/>
        </p:nvSpPr>
        <p:spPr>
          <a:xfrm>
            <a:off x="10927080" y="2734056"/>
            <a:ext cx="521208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he-IL" sz="1400" b="1" dirty="0">
                <a:solidFill>
                  <a:srgbClr val="16222E"/>
                </a:solidFill>
                <a:latin typeface="Arial" pitchFamily="34" charset="0"/>
                <a:cs typeface="Arial" pitchFamily="34" charset="-120"/>
              </a:rPr>
              <a:t>א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348472" y="2560320"/>
            <a:ext cx="2468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אימות ותפקידים‏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822960" y="2560320"/>
            <a:ext cx="7772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50" dirty="0">
                <a:solidFill>
                  <a:srgbClr val="4456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‏JWT bearer‏ בכל נקודת קצה, ו-‏CanActFor‏ מוודא שמשתמש פועל רק על הנתונים שלו, אלא אם </a:t>
            </a:r>
            <a:r>
              <a:rPr lang="en-US" sz="1250" dirty="0" err="1">
                <a:solidFill>
                  <a:srgbClr val="4456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הוא</a:t>
            </a:r>
            <a:r>
              <a:rPr lang="en-US" sz="1250" dirty="0">
                <a:solidFill>
                  <a:srgbClr val="4456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250" dirty="0" err="1">
                <a:solidFill>
                  <a:srgbClr val="4456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מנהל</a:t>
            </a:r>
            <a:r>
              <a:rPr lang="en-US" sz="1250" dirty="0">
                <a:solidFill>
                  <a:srgbClr val="4456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.‏</a:t>
            </a:r>
          </a:p>
          <a:p>
            <a:pPr marL="0" indent="0" algn="r" rtl="1">
              <a:buNone/>
            </a:pPr>
            <a:r>
              <a:rPr lang="he-IL" sz="1250" b="1" dirty="0">
                <a:solidFill>
                  <a:srgbClr val="4456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*בדיקת טוקן מאובטח, שמוודאת שכל נהג ניגש רק למידע שלו ומנהל רשאי לגשת </a:t>
            </a:r>
            <a:r>
              <a:rPr lang="he-IL" sz="1250" b="1" dirty="0" err="1">
                <a:solidFill>
                  <a:srgbClr val="4456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להכל</a:t>
            </a:r>
            <a:r>
              <a:rPr lang="en-US" sz="1250" b="1" dirty="0">
                <a:solidFill>
                  <a:srgbClr val="4456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* </a:t>
            </a:r>
            <a:endParaRPr lang="en-US" sz="1250" b="1" dirty="0"/>
          </a:p>
        </p:txBody>
      </p:sp>
      <p:sp>
        <p:nvSpPr>
          <p:cNvPr id="14" name="Shape 12"/>
          <p:cNvSpPr/>
          <p:nvPr/>
        </p:nvSpPr>
        <p:spPr>
          <a:xfrm>
            <a:off x="548640" y="35204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  <a:effectLst>
            <a:outerShdw blurRad="101600" dist="25400" dir="5400000" algn="bl" rotWithShape="0">
              <a:srgbClr val="9AA9B5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10927080" y="3694176"/>
            <a:ext cx="521208" cy="521208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 txBox="1"/>
          <p:nvPr/>
        </p:nvSpPr>
        <p:spPr>
          <a:xfrm>
            <a:off x="10927080" y="3694176"/>
            <a:ext cx="521208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8348472" y="3520440"/>
            <a:ext cx="2468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אימות מייל‏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" y="3520440"/>
            <a:ext cx="7772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50" dirty="0">
                <a:solidFill>
                  <a:srgbClr val="4456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חובה לפני שמונפק סשן. הקודים פגים, ניחושים שגויים מוגבלים לחמישה, ושליחה חוזרת מוגבלת בקצב‏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448056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  <a:effectLst>
            <a:outerShdw blurRad="101600" dist="25400" dir="5400000" algn="bl" rotWithShape="0">
              <a:srgbClr val="9AA9B5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10927080" y="4654296"/>
            <a:ext cx="521208" cy="521208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 txBox="1"/>
          <p:nvPr/>
        </p:nvSpPr>
        <p:spPr>
          <a:xfrm>
            <a:off x="10927080" y="4654296"/>
            <a:ext cx="521208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8348472" y="4480560"/>
            <a:ext cx="2468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סודות‏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822960" y="4480560"/>
            <a:ext cx="7772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50" dirty="0">
                <a:solidFill>
                  <a:srgbClr val="4456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חיים בקבצי קונפיגורציה ב-‏gitignore.‏ בריפו ובכל ההיסטוריה שלו אין מפתחות אמיתיים‏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548640" y="54406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  <a:effectLst>
            <a:outerShdw blurRad="101600" dist="25400" dir="5400000" algn="bl" rotWithShape="0">
              <a:srgbClr val="9AA9B5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10927080" y="5614416"/>
            <a:ext cx="521208" cy="521208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 txBox="1"/>
          <p:nvPr/>
        </p:nvSpPr>
        <p:spPr>
          <a:xfrm>
            <a:off x="10927080" y="5614416"/>
            <a:ext cx="521208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◐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8348472" y="5440680"/>
            <a:ext cx="2468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כתובות בית‏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822960" y="5440680"/>
            <a:ext cx="7772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50" dirty="0">
                <a:solidFill>
                  <a:srgbClr val="4456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נשמרות רק על המכשיר. אין עמודת מיקום בבסיס הנתונים, כתובת בית לא עוזבת את הטלפון‏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1672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r" rtl="1">
              <a:buNone/>
            </a:pPr>
            <a:r>
              <a:rPr lang="en-US" sz="1200" b="1" kern="0" spc="100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מגבלות ידועות‏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1672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r" rtl="1">
              <a:buNone/>
            </a:pPr>
            <a:r>
              <a:rPr lang="en-US" sz="36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המערכת </a:t>
            </a:r>
            <a:r>
              <a:rPr lang="en-US" sz="3600" b="1" dirty="0" err="1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לא</a:t>
            </a:r>
            <a:r>
              <a:rPr lang="en-US" sz="36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3600" b="1" dirty="0" err="1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עושה</a:t>
            </a:r>
            <a:r>
              <a:rPr lang="en-US" sz="36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</a:t>
            </a:r>
            <a:r>
              <a:rPr lang="he-IL" sz="36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3600" b="1" dirty="0" err="1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וזה</a:t>
            </a:r>
            <a:r>
              <a:rPr lang="en-US" sz="36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בכוונה‏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8028432" y="1691640"/>
            <a:ext cx="3611880" cy="1691640"/>
          </a:xfrm>
          <a:prstGeom prst="roundRect">
            <a:avLst>
              <a:gd name="adj" fmla="val 6486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  <a:effectLst>
            <a:outerShdw blurRad="101600" dist="25400" dir="5400000" algn="bl" rotWithShape="0">
              <a:srgbClr val="9AA9B5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 txBox="1"/>
          <p:nvPr/>
        </p:nvSpPr>
        <p:spPr>
          <a:xfrm>
            <a:off x="8229600" y="1837944"/>
            <a:ext cx="3209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buNone/>
            </a:pPr>
            <a:r>
              <a:rPr lang="en-US" sz="145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רק ‏95‏ הוא מחיר רשמי‏</a:t>
            </a:r>
            <a:endParaRPr lang="en-US" sz="1450" dirty="0"/>
          </a:p>
        </p:txBody>
      </p:sp>
      <p:sp>
        <p:nvSpPr>
          <p:cNvPr id="6" name="Text 4"/>
          <p:cNvSpPr txBox="1"/>
          <p:nvPr/>
        </p:nvSpPr>
        <p:spPr>
          <a:xfrm>
            <a:off x="8229600" y="2423160"/>
            <a:ext cx="32095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lnSpc>
                <a:spcPts val="1900"/>
              </a:lnSpc>
              <a:buNone/>
            </a:pPr>
            <a:r>
              <a:rPr lang="en-US" sz="1200" dirty="0">
                <a:solidFill>
                  <a:srgbClr val="4456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ישראל שחררה את שאר סוגי הדלק מפיקוח ב-‏2007‏, ולכן ‏98‏ וסולר הם מחירים אופייניים‏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288536" y="1691640"/>
            <a:ext cx="3611880" cy="1691640"/>
          </a:xfrm>
          <a:prstGeom prst="roundRect">
            <a:avLst>
              <a:gd name="adj" fmla="val 6486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  <a:effectLst>
            <a:outerShdw blurRad="101600" dist="25400" dir="5400000" algn="bl" rotWithShape="0">
              <a:srgbClr val="9AA9B5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 txBox="1"/>
          <p:nvPr/>
        </p:nvSpPr>
        <p:spPr>
          <a:xfrm>
            <a:off x="4489704" y="1837944"/>
            <a:ext cx="3209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buNone/>
            </a:pPr>
            <a:r>
              <a:rPr lang="en-US" sz="145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גודל המיכל מוקלד ידנית‏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4489704" y="2423160"/>
            <a:ext cx="32095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lnSpc>
                <a:spcPts val="1900"/>
              </a:lnSpc>
              <a:buNone/>
            </a:pPr>
            <a:r>
              <a:rPr lang="en-US" sz="1200" dirty="0">
                <a:solidFill>
                  <a:srgbClr val="4456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אין בסיס נתונים ציבורי שמפרסם קיבולת מיכל לכל דגם‏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1691640"/>
            <a:ext cx="3611880" cy="1691640"/>
          </a:xfrm>
          <a:prstGeom prst="roundRect">
            <a:avLst>
              <a:gd name="adj" fmla="val 6486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  <a:effectLst>
            <a:outerShdw blurRad="101600" dist="25400" dir="5400000" algn="bl" rotWithShape="0">
              <a:srgbClr val="9AA9B5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 txBox="1"/>
          <p:nvPr/>
        </p:nvSpPr>
        <p:spPr>
          <a:xfrm>
            <a:off x="749808" y="1837944"/>
            <a:ext cx="3209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buNone/>
            </a:pPr>
            <a:r>
              <a:rPr lang="en-US" sz="145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הוספת רכב ידנית מבוססת ‏EPA‏‏</a:t>
            </a:r>
            <a:endParaRPr lang="en-US" sz="14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" y="2423160"/>
            <a:ext cx="32095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lnSpc>
                <a:spcPts val="1900"/>
              </a:lnSpc>
              <a:buNone/>
            </a:pPr>
            <a:r>
              <a:rPr lang="en-US" sz="1200" dirty="0">
                <a:solidFill>
                  <a:srgbClr val="4456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ולכן מציגה רק דגמי שוק אמריקאי. מסלול מספר הרישוי מכסה רכבים ישראליים‏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288536" y="3611880"/>
            <a:ext cx="3611880" cy="1691640"/>
          </a:xfrm>
          <a:prstGeom prst="roundRect">
            <a:avLst>
              <a:gd name="adj" fmla="val 6486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  <a:effectLst>
            <a:outerShdw blurRad="101600" dist="25400" dir="5400000" algn="bl" rotWithShape="0">
              <a:srgbClr val="9AA9B5">
                <a:alpha val="25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17" name="Text 15"/>
          <p:cNvSpPr txBox="1"/>
          <p:nvPr/>
        </p:nvSpPr>
        <p:spPr>
          <a:xfrm>
            <a:off x="4489704" y="3758184"/>
            <a:ext cx="3209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buNone/>
            </a:pPr>
            <a:r>
              <a:rPr lang="en-US" sz="145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מרחקים למוסכים אוויריים‏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4489704" y="4343400"/>
            <a:ext cx="32095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lnSpc>
                <a:spcPts val="1900"/>
              </a:lnSpc>
              <a:buNone/>
            </a:pPr>
            <a:r>
              <a:rPr lang="en-US" sz="1200" dirty="0" err="1">
                <a:solidFill>
                  <a:srgbClr val="4456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כפתור</a:t>
            </a:r>
            <a:r>
              <a:rPr lang="en-US" sz="1200" dirty="0">
                <a:solidFill>
                  <a:srgbClr val="4456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הניווט מעביר את המסלול האמיתי ל-‏Google‏‏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622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0080"/>
            <a:ext cx="11091672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r" rtl="1">
              <a:buNone/>
            </a:pPr>
            <a:r>
              <a:rPr lang="en-US" sz="1200" b="1" kern="0" spc="100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סיכום‏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r" rtl="1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מקוד בן חמישה תווים למשפט אחד שאפשר לפעול לפיו‏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6144768" y="233172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4600" dirty="0"/>
          </a:p>
        </p:txBody>
      </p:sp>
      <p:sp>
        <p:nvSpPr>
          <p:cNvPr id="9" name="Text 7"/>
          <p:cNvSpPr txBox="1"/>
          <p:nvPr/>
        </p:nvSpPr>
        <p:spPr>
          <a:xfrm>
            <a:off x="6144768" y="320040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300" dirty="0">
                <a:solidFill>
                  <a:srgbClr val="C6D2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346704" y="2194560"/>
            <a:ext cx="2697480" cy="1691640"/>
          </a:xfrm>
          <a:prstGeom prst="roundRect">
            <a:avLst>
              <a:gd name="adj" fmla="val 6486"/>
            </a:avLst>
          </a:prstGeom>
          <a:solidFill>
            <a:srgbClr val="22323F"/>
          </a:solidFill>
          <a:ln w="12700">
            <a:solidFill>
              <a:srgbClr val="22323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 txBox="1"/>
          <p:nvPr/>
        </p:nvSpPr>
        <p:spPr>
          <a:xfrm>
            <a:off x="3346704" y="233172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</a:t>
            </a:r>
            <a:endParaRPr lang="en-US" sz="4600" dirty="0"/>
          </a:p>
        </p:txBody>
      </p:sp>
      <p:sp>
        <p:nvSpPr>
          <p:cNvPr id="12" name="Text 10"/>
          <p:cNvSpPr txBox="1"/>
          <p:nvPr/>
        </p:nvSpPr>
        <p:spPr>
          <a:xfrm>
            <a:off x="3346704" y="320040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300" dirty="0">
                <a:solidFill>
                  <a:srgbClr val="C6D2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קודי תקלה במילון‏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2194560"/>
            <a:ext cx="2697480" cy="1691640"/>
          </a:xfrm>
          <a:prstGeom prst="roundRect">
            <a:avLst>
              <a:gd name="adj" fmla="val 6486"/>
            </a:avLst>
          </a:prstGeom>
          <a:solidFill>
            <a:srgbClr val="22323F"/>
          </a:solidFill>
          <a:ln w="12700">
            <a:solidFill>
              <a:srgbClr val="22323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 txBox="1"/>
          <p:nvPr/>
        </p:nvSpPr>
        <p:spPr>
          <a:xfrm>
            <a:off x="548640" y="233172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46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320040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300" dirty="0">
                <a:solidFill>
                  <a:srgbClr val="C6D2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שירותים חיצוניים‏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251960"/>
            <a:ext cx="11091672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r" rtl="1">
              <a:lnSpc>
                <a:spcPts val="2600"/>
              </a:lnSpc>
              <a:buNone/>
            </a:pPr>
            <a:r>
              <a:rPr lang="en-US" sz="1500" dirty="0">
                <a:solidFill>
                  <a:srgbClr val="C6D2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הפרויקט מכסה את כל השרשרת: קושחה שקוראת ‏CAN‏, אפליקציה ניידת, שרת עם בסיס נתונים, פאנל ניהול, ואינטגרציה מול תשעה שירותים חיצוניים, עם אבטחה, בדיקות אוטומטיות ומגבלות מוצהרות.‏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5577840"/>
            <a:ext cx="1109167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r" rtl="1">
              <a:buNone/>
            </a:pPr>
            <a:r>
              <a:rPr lang="en-US" sz="1800" b="1" dirty="0" err="1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תודה</a:t>
            </a:r>
            <a:r>
              <a:rPr lang="en-US" sz="1800" b="1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‏‏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ערכת נושא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</TotalTime>
  <Words>1363</Words>
  <Application>Microsoft Office PowerPoint</Application>
  <PresentationFormat>Widescreen</PresentationFormat>
  <Paragraphs>194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CarStats - פרויקט גמר</dc:title>
  <dc:subject>PptxGenJS Presentation</dc:subject>
  <dc:creator>CarStats</dc:creator>
  <cp:lastModifiedBy>יבגני פודרזוב</cp:lastModifiedBy>
  <cp:revision>5</cp:revision>
  <dcterms:created xsi:type="dcterms:W3CDTF">2026-09-06T13:11:25Z</dcterms:created>
  <dcterms:modified xsi:type="dcterms:W3CDTF">2026-09-07T23:05:14Z</dcterms:modified>
</cp:coreProperties>
</file>